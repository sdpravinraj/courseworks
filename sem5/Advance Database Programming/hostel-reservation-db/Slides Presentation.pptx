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alibri (MS) Bold" charset="1" panose="020F0702030404030204"/>
      <p:regular r:id="rId28"/>
    </p:embeddedFont>
    <p:embeddedFont>
      <p:font typeface="Calibri (MS)" charset="1" panose="020F0502020204030204"/>
      <p:regular r:id="rId30"/>
    </p:embeddedFont>
    <p:embeddedFont>
      <p:font typeface="Calibri (MS) Italics" charset="1" panose="020F05020202040A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fonts/font36.fntdata" Type="http://schemas.openxmlformats.org/officeDocument/2006/relationships/font"/><Relationship Id="rId37"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Greetings Dr Shamini! My name is Afiq and we are from group 4 will be presenting our project 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we choose to implement a hostel reservation system for university institution.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going further, my role in this project is a database designer, which i designed the overall database structure for the system. I identified all the entities, planned their relationships and create every necessary tables. I also applied key constraints on those table to ensure smooth integration between tables.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system is a simple backend for managing student room booking and payments. It is specifically designed for university hostels to handle the applications, hostel assignments and payments.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system has several goals and objectives, which is to (read the slides)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 us move to the first part which is DDL. In this part, I will show the creation of all of the necessary tables and explain the constraints applied on those tables.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total of 6 tables created within the system which are (read the slides). In each table, there are several attributes that support the operation of the system, and the tables are link together across the system. </a:t>
            </a:r>
          </a:p>
          <a:p>
            <a:r>
              <a:rPr lang="en-US"/>
              <a:t/>
            </a:r>
          </a:p>
          <a:p>
            <a:r>
              <a:rPr lang="en-US"/>
              <a:t>I also applied several constraints so that the data remain consistent and accurate along the system.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constraints used are primary key to ensure each row have their own unique identifier in the table, foreign key to link a relationship between tables, unique to prevent duplicates of a certain field like IC number, not null to ensure the field has value and not empty, default so that when the fields are not inserted with any value, it has the default value. For example, a reservation date. Lastly, check constraints to enforce logical rules such as positive room pricing.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2.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3.pn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2" Target="../notesSlides/notesSlide5.xml" Type="http://schemas.openxmlformats.org/officeDocument/2006/relationships/notesSlide"/><Relationship Id="rId3" Target="../media/image9.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2.pn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4.jpe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9.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2" Target="../media/image9.png" Type="http://schemas.openxmlformats.org/officeDocument/2006/relationships/image"/><Relationship Id="rId3" Target="../media/image12.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7.png" Type="http://schemas.openxmlformats.org/officeDocument/2006/relationships/image"/><Relationship Id="rId9" Target="../media/image4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media/image9.png" Type="http://schemas.openxmlformats.org/officeDocument/2006/relationships/image"/><Relationship Id="rId3" Target="../media/image12.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7.png" Type="http://schemas.openxmlformats.org/officeDocument/2006/relationships/image"/><Relationship Id="rId9" Target="../media/image4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7.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7.pn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40084" r="0" b="-12137"/>
              </a:stretch>
            </a:blipFill>
          </p:spPr>
        </p:sp>
      </p:grpSp>
      <p:grpSp>
        <p:nvGrpSpPr>
          <p:cNvPr name="Group 4" id="4"/>
          <p:cNvGrpSpPr/>
          <p:nvPr/>
        </p:nvGrpSpPr>
        <p:grpSpPr>
          <a:xfrm rot="0">
            <a:off x="-9525" y="-9524"/>
            <a:ext cx="18307050" cy="10306050"/>
            <a:chOff x="0" y="0"/>
            <a:chExt cx="24409400" cy="13741400"/>
          </a:xfrm>
        </p:grpSpPr>
        <p:sp>
          <p:nvSpPr>
            <p:cNvPr name="Freeform 5" id="5"/>
            <p:cNvSpPr/>
            <p:nvPr/>
          </p:nvSpPr>
          <p:spPr>
            <a:xfrm flipH="false" flipV="false" rot="0">
              <a:off x="12700" y="1270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12000">
                  <a:srgbClr val="6C1D35">
                    <a:alpha val="68000"/>
                  </a:srgbClr>
                </a:gs>
                <a:gs pos="77000">
                  <a:srgbClr val="511628">
                    <a:alpha val="100000"/>
                  </a:srgbClr>
                </a:gs>
              </a:gsLst>
              <a:lin ang="14437346"/>
            </a:gradFill>
          </p:spPr>
        </p:sp>
        <p:sp>
          <p:nvSpPr>
            <p:cNvPr name="Freeform 6" id="6"/>
            <p:cNvSpPr/>
            <p:nvPr/>
          </p:nvSpPr>
          <p:spPr>
            <a:xfrm flipH="false" flipV="false" rot="0">
              <a:off x="0" y="0"/>
              <a:ext cx="24409400" cy="13741400"/>
            </a:xfrm>
            <a:custGeom>
              <a:avLst/>
              <a:gdLst/>
              <a:ahLst/>
              <a:cxnLst/>
              <a:rect r="r" b="b" t="t" l="l"/>
              <a:pathLst>
                <a:path h="13741400" w="24409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290610"/>
            </a:solidFill>
          </p:spPr>
        </p:sp>
      </p:grpSp>
      <p:sp>
        <p:nvSpPr>
          <p:cNvPr name="Freeform 7" id="7"/>
          <p:cNvSpPr/>
          <p:nvPr/>
        </p:nvSpPr>
        <p:spPr>
          <a:xfrm flipH="true" flipV="false" rot="-10800000">
            <a:off x="10668000" y="-52621"/>
            <a:ext cx="7376160" cy="10381784"/>
          </a:xfrm>
          <a:custGeom>
            <a:avLst/>
            <a:gdLst/>
            <a:ahLst/>
            <a:cxnLst/>
            <a:rect r="r" b="b" t="t" l="l"/>
            <a:pathLst>
              <a:path h="10381784" w="7376160">
                <a:moveTo>
                  <a:pt x="7376160" y="0"/>
                </a:moveTo>
                <a:lnTo>
                  <a:pt x="0" y="0"/>
                </a:lnTo>
                <a:lnTo>
                  <a:pt x="0" y="10381783"/>
                </a:lnTo>
                <a:lnTo>
                  <a:pt x="7376160" y="10381783"/>
                </a:lnTo>
                <a:lnTo>
                  <a:pt x="7376160" y="0"/>
                </a:lnTo>
                <a:close/>
              </a:path>
            </a:pathLst>
          </a:custGeom>
          <a:blipFill>
            <a:blip r:embed="rId4">
              <a:extLst>
                <a:ext uri="{96DAC541-7B7A-43D3-8B79-37D633B846F1}">
                  <asvg:svgBlip xmlns:asvg="http://schemas.microsoft.com/office/drawing/2016/SVG/main" r:embed="rId5"/>
                </a:ext>
              </a:extLst>
            </a:blip>
            <a:stretch>
              <a:fillRect l="-2167" t="0" r="-2167" b="0"/>
            </a:stretch>
          </a:blipFill>
        </p:spPr>
      </p:sp>
      <p:sp>
        <p:nvSpPr>
          <p:cNvPr name="Freeform 8" id="8"/>
          <p:cNvSpPr/>
          <p:nvPr/>
        </p:nvSpPr>
        <p:spPr>
          <a:xfrm flipH="true" flipV="false" rot="-10800000">
            <a:off x="16902393" y="523641"/>
            <a:ext cx="3015054" cy="4243622"/>
          </a:xfrm>
          <a:custGeom>
            <a:avLst/>
            <a:gdLst/>
            <a:ahLst/>
            <a:cxnLst/>
            <a:rect r="r" b="b" t="t" l="l"/>
            <a:pathLst>
              <a:path h="4243622" w="3015054">
                <a:moveTo>
                  <a:pt x="3015054" y="0"/>
                </a:moveTo>
                <a:lnTo>
                  <a:pt x="0" y="0"/>
                </a:lnTo>
                <a:lnTo>
                  <a:pt x="0" y="4243622"/>
                </a:lnTo>
                <a:lnTo>
                  <a:pt x="3015054" y="4243622"/>
                </a:lnTo>
                <a:lnTo>
                  <a:pt x="3015054" y="0"/>
                </a:lnTo>
                <a:close/>
              </a:path>
            </a:pathLst>
          </a:custGeom>
          <a:blipFill>
            <a:blip r:embed="rId4">
              <a:extLst>
                <a:ext uri="{96DAC541-7B7A-43D3-8B79-37D633B846F1}">
                  <asvg:svgBlip xmlns:asvg="http://schemas.microsoft.com/office/drawing/2016/SVG/main" r:embed="rId5"/>
                </a:ext>
              </a:extLst>
            </a:blip>
            <a:stretch>
              <a:fillRect l="-2228" t="0" r="-2228" b="0"/>
            </a:stretch>
          </a:blipFill>
        </p:spPr>
      </p:sp>
      <p:sp>
        <p:nvSpPr>
          <p:cNvPr name="TextBox 9" id="9"/>
          <p:cNvSpPr txBox="true"/>
          <p:nvPr/>
        </p:nvSpPr>
        <p:spPr>
          <a:xfrm rot="0">
            <a:off x="4777740" y="6131675"/>
            <a:ext cx="8732520" cy="523875"/>
          </a:xfrm>
          <a:prstGeom prst="rect">
            <a:avLst/>
          </a:prstGeom>
        </p:spPr>
        <p:txBody>
          <a:bodyPr anchor="t" rtlCol="false" tIns="0" lIns="0" bIns="0" rIns="0">
            <a:spAutoFit/>
          </a:bodyPr>
          <a:lstStyle/>
          <a:p>
            <a:pPr algn="ctr">
              <a:lnSpc>
                <a:spcPts val="3600"/>
              </a:lnSpc>
            </a:pPr>
            <a:r>
              <a:rPr lang="en-US" sz="3000" b="true">
                <a:solidFill>
                  <a:srgbClr val="FFFFFF"/>
                </a:solidFill>
                <a:latin typeface="Calibri (MS) Bold"/>
                <a:ea typeface="Calibri (MS) Bold"/>
                <a:cs typeface="Calibri (MS) Bold"/>
                <a:sym typeface="Calibri (MS) Bold"/>
              </a:rPr>
              <a:t>Project 1</a:t>
            </a:r>
          </a:p>
        </p:txBody>
      </p:sp>
      <p:sp>
        <p:nvSpPr>
          <p:cNvPr name="TextBox 10" id="10"/>
          <p:cNvSpPr txBox="true"/>
          <p:nvPr/>
        </p:nvSpPr>
        <p:spPr>
          <a:xfrm rot="0">
            <a:off x="4777740" y="3984070"/>
            <a:ext cx="8732520" cy="2000250"/>
          </a:xfrm>
          <a:prstGeom prst="rect">
            <a:avLst/>
          </a:prstGeom>
        </p:spPr>
        <p:txBody>
          <a:bodyPr anchor="t" rtlCol="false" tIns="0" lIns="0" bIns="0" rIns="0">
            <a:spAutoFit/>
          </a:bodyPr>
          <a:lstStyle/>
          <a:p>
            <a:pPr algn="ctr">
              <a:lnSpc>
                <a:spcPts val="5040"/>
              </a:lnSpc>
            </a:pPr>
            <a:r>
              <a:rPr lang="en-US" sz="4200" b="true">
                <a:solidFill>
                  <a:srgbClr val="FFFFFF"/>
                </a:solidFill>
                <a:latin typeface="Calibri (MS) Bold"/>
                <a:ea typeface="Calibri (MS) Bold"/>
                <a:cs typeface="Calibri (MS) Bold"/>
                <a:sym typeface="Calibri (MS) Bold"/>
              </a:rPr>
              <a:t>SECP3623 - DATABASE PROGRAMMING</a:t>
            </a:r>
          </a:p>
          <a:p>
            <a:pPr algn="ctr">
              <a:lnSpc>
                <a:spcPts val="5040"/>
              </a:lnSpc>
            </a:pPr>
            <a:r>
              <a:rPr lang="en-US" sz="4200" b="true">
                <a:solidFill>
                  <a:srgbClr val="FFFFFF"/>
                </a:solidFill>
                <a:latin typeface="Calibri (MS) Bold"/>
                <a:ea typeface="Calibri (MS) Bold"/>
                <a:cs typeface="Calibri (MS) Bold"/>
                <a:sym typeface="Calibri (MS) Bold"/>
              </a:rPr>
              <a:t>2025/2026 - SEM 1</a:t>
            </a:r>
          </a:p>
        </p:txBody>
      </p:sp>
      <p:sp>
        <p:nvSpPr>
          <p:cNvPr name="TextBox 11" id="11"/>
          <p:cNvSpPr txBox="true"/>
          <p:nvPr/>
        </p:nvSpPr>
        <p:spPr>
          <a:xfrm rot="0">
            <a:off x="3443665" y="2975581"/>
            <a:ext cx="11400671" cy="1094214"/>
          </a:xfrm>
          <a:prstGeom prst="rect">
            <a:avLst/>
          </a:prstGeom>
        </p:spPr>
        <p:txBody>
          <a:bodyPr anchor="t" rtlCol="false" tIns="0" lIns="0" bIns="0" rIns="0">
            <a:spAutoFit/>
          </a:bodyPr>
          <a:lstStyle/>
          <a:p>
            <a:pPr algn="l">
              <a:lnSpc>
                <a:spcPts val="7200"/>
              </a:lnSpc>
            </a:pPr>
            <a:r>
              <a:rPr lang="en-US" sz="6000" b="true">
                <a:solidFill>
                  <a:srgbClr val="FFFFFF"/>
                </a:solidFill>
                <a:latin typeface="Calibri (MS) Bold"/>
                <a:ea typeface="Calibri (MS) Bold"/>
                <a:cs typeface="Calibri (MS) Bold"/>
                <a:sym typeface="Calibri (MS) Bold"/>
              </a:rPr>
              <a:t>UNIVERSITI TEKNOLOGI MALAYSIA</a:t>
            </a:r>
          </a:p>
        </p:txBody>
      </p:sp>
      <p:grpSp>
        <p:nvGrpSpPr>
          <p:cNvPr name="Group 12" id="12"/>
          <p:cNvGrpSpPr>
            <a:grpSpLocks noChangeAspect="true"/>
          </p:cNvGrpSpPr>
          <p:nvPr/>
        </p:nvGrpSpPr>
        <p:grpSpPr>
          <a:xfrm rot="0">
            <a:off x="994173" y="1028700"/>
            <a:ext cx="3209168" cy="1085400"/>
            <a:chOff x="0" y="0"/>
            <a:chExt cx="4278890" cy="1447200"/>
          </a:xfrm>
        </p:grpSpPr>
        <p:sp>
          <p:nvSpPr>
            <p:cNvPr name="Freeform 13" id="13"/>
            <p:cNvSpPr/>
            <p:nvPr/>
          </p:nvSpPr>
          <p:spPr>
            <a:xfrm flipH="false" flipV="false" rot="0">
              <a:off x="0" y="0"/>
              <a:ext cx="4278884" cy="1447165"/>
            </a:xfrm>
            <a:custGeom>
              <a:avLst/>
              <a:gdLst/>
              <a:ahLst/>
              <a:cxnLst/>
              <a:rect r="r" b="b" t="t" l="l"/>
              <a:pathLst>
                <a:path h="1447165" w="4278884">
                  <a:moveTo>
                    <a:pt x="0" y="0"/>
                  </a:moveTo>
                  <a:lnTo>
                    <a:pt x="4278884" y="0"/>
                  </a:lnTo>
                  <a:lnTo>
                    <a:pt x="4278884" y="1447165"/>
                  </a:lnTo>
                  <a:lnTo>
                    <a:pt x="0" y="1447165"/>
                  </a:lnTo>
                  <a:lnTo>
                    <a:pt x="0" y="0"/>
                  </a:lnTo>
                  <a:close/>
                </a:path>
              </a:pathLst>
            </a:custGeom>
            <a:blipFill>
              <a:blip r:embed="rId6"/>
              <a:stretch>
                <a:fillRect l="0" t="0" r="0" b="-2"/>
              </a:stretch>
            </a:blipFill>
          </p:spPr>
        </p:sp>
      </p:grpSp>
      <p:sp>
        <p:nvSpPr>
          <p:cNvPr name="Freeform 14" id="14"/>
          <p:cNvSpPr/>
          <p:nvPr/>
        </p:nvSpPr>
        <p:spPr>
          <a:xfrm flipH="false" flipV="false" rot="0">
            <a:off x="365523" y="4512228"/>
            <a:ext cx="1257300" cy="1262541"/>
          </a:xfrm>
          <a:custGeom>
            <a:avLst/>
            <a:gdLst/>
            <a:ahLst/>
            <a:cxnLst/>
            <a:rect r="r" b="b" t="t" l="l"/>
            <a:pathLst>
              <a:path h="1262541" w="1257300">
                <a:moveTo>
                  <a:pt x="0" y="0"/>
                </a:moveTo>
                <a:lnTo>
                  <a:pt x="1257300" y="0"/>
                </a:lnTo>
                <a:lnTo>
                  <a:pt x="1257300" y="1262541"/>
                </a:lnTo>
                <a:lnTo>
                  <a:pt x="0" y="1262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0" y="4512230"/>
            <a:ext cx="1257300" cy="1262541"/>
          </a:xfrm>
          <a:custGeom>
            <a:avLst/>
            <a:gdLst/>
            <a:ahLst/>
            <a:cxnLst/>
            <a:rect r="r" b="b" t="t" l="l"/>
            <a:pathLst>
              <a:path h="1262541" w="1257300">
                <a:moveTo>
                  <a:pt x="0" y="0"/>
                </a:moveTo>
                <a:lnTo>
                  <a:pt x="1257300" y="0"/>
                </a:lnTo>
                <a:lnTo>
                  <a:pt x="1257300" y="1262540"/>
                </a:lnTo>
                <a:lnTo>
                  <a:pt x="0" y="12625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a:grpSpLocks noChangeAspect="true"/>
          </p:cNvGrpSpPr>
          <p:nvPr/>
        </p:nvGrpSpPr>
        <p:grpSpPr>
          <a:xfrm rot="0">
            <a:off x="14499769" y="9574994"/>
            <a:ext cx="3788231" cy="285090"/>
            <a:chOff x="0" y="0"/>
            <a:chExt cx="5050974" cy="380120"/>
          </a:xfrm>
        </p:grpSpPr>
        <p:sp>
          <p:nvSpPr>
            <p:cNvPr name="Freeform 17" id="17"/>
            <p:cNvSpPr/>
            <p:nvPr/>
          </p:nvSpPr>
          <p:spPr>
            <a:xfrm flipH="false" flipV="false" rot="0">
              <a:off x="0" y="0"/>
              <a:ext cx="5050917" cy="380111"/>
            </a:xfrm>
            <a:custGeom>
              <a:avLst/>
              <a:gdLst/>
              <a:ahLst/>
              <a:cxnLst/>
              <a:rect r="r" b="b" t="t" l="l"/>
              <a:pathLst>
                <a:path h="380111" w="5050917">
                  <a:moveTo>
                    <a:pt x="0" y="0"/>
                  </a:moveTo>
                  <a:lnTo>
                    <a:pt x="5050917" y="0"/>
                  </a:lnTo>
                  <a:lnTo>
                    <a:pt x="5050917" y="380111"/>
                  </a:lnTo>
                  <a:lnTo>
                    <a:pt x="0" y="380111"/>
                  </a:lnTo>
                  <a:lnTo>
                    <a:pt x="0" y="0"/>
                  </a:lnTo>
                  <a:close/>
                </a:path>
              </a:pathLst>
            </a:custGeom>
            <a:blipFill>
              <a:blip r:embed="rId9"/>
              <a:stretch>
                <a:fillRect l="0" t="0" r="-1" b="-2"/>
              </a:stretch>
            </a:blipFill>
          </p:spPr>
        </p:sp>
      </p:grpSp>
      <p:sp>
        <p:nvSpPr>
          <p:cNvPr name="AutoShape 18" id="18"/>
          <p:cNvSpPr/>
          <p:nvPr/>
        </p:nvSpPr>
        <p:spPr>
          <a:xfrm rot="15116">
            <a:off x="-79853" y="9694988"/>
            <a:ext cx="14589218" cy="0"/>
          </a:xfrm>
          <a:prstGeom prst="line">
            <a:avLst/>
          </a:prstGeom>
          <a:ln cap="rnd" w="9525">
            <a:solidFill>
              <a:srgbClr val="FFFFFF"/>
            </a:solidFill>
            <a:prstDash val="solid"/>
            <a:headEnd type="none" len="sm" w="sm"/>
            <a:tailEnd type="none" len="sm" w="sm"/>
          </a:ln>
        </p:spPr>
      </p:sp>
      <p:sp>
        <p:nvSpPr>
          <p:cNvPr name="TextBox 19" id="19"/>
          <p:cNvSpPr txBox="true"/>
          <p:nvPr/>
        </p:nvSpPr>
        <p:spPr>
          <a:xfrm rot="0">
            <a:off x="4777740" y="6734691"/>
            <a:ext cx="8732520" cy="523875"/>
          </a:xfrm>
          <a:prstGeom prst="rect">
            <a:avLst/>
          </a:prstGeom>
        </p:spPr>
        <p:txBody>
          <a:bodyPr anchor="t" rtlCol="false" tIns="0" lIns="0" bIns="0" rIns="0">
            <a:spAutoFit/>
          </a:bodyPr>
          <a:lstStyle/>
          <a:p>
            <a:pPr algn="ctr">
              <a:lnSpc>
                <a:spcPts val="3600"/>
              </a:lnSpc>
            </a:pPr>
            <a:r>
              <a:rPr lang="en-US" sz="3000" b="true">
                <a:solidFill>
                  <a:srgbClr val="FFFFFF"/>
                </a:solidFill>
                <a:latin typeface="Calibri (MS) Bold"/>
                <a:ea typeface="Calibri (MS) Bold"/>
                <a:cs typeface="Calibri (MS) Bold"/>
                <a:sym typeface="Calibri (MS) Bold"/>
              </a:rPr>
              <a:t>Prepared by: Group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2142062" y="-2142062"/>
            <a:ext cx="10320045" cy="14604165"/>
            <a:chOff x="0" y="0"/>
            <a:chExt cx="13760060" cy="19472220"/>
          </a:xfrm>
        </p:grpSpPr>
        <p:sp>
          <p:nvSpPr>
            <p:cNvPr name="Freeform 3" id="3"/>
            <p:cNvSpPr/>
            <p:nvPr/>
          </p:nvSpPr>
          <p:spPr>
            <a:xfrm flipH="false" flipV="false" rot="0">
              <a:off x="0" y="0"/>
              <a:ext cx="13760069" cy="19472275"/>
            </a:xfrm>
            <a:custGeom>
              <a:avLst/>
              <a:gdLst/>
              <a:ahLst/>
              <a:cxnLst/>
              <a:rect r="r" b="b" t="t" l="l"/>
              <a:pathLst>
                <a:path h="19472275" w="13760069">
                  <a:moveTo>
                    <a:pt x="0" y="0"/>
                  </a:moveTo>
                  <a:lnTo>
                    <a:pt x="13760069" y="0"/>
                  </a:lnTo>
                  <a:lnTo>
                    <a:pt x="13760069" y="19472275"/>
                  </a:lnTo>
                  <a:lnTo>
                    <a:pt x="0" y="19472275"/>
                  </a:lnTo>
                  <a:lnTo>
                    <a:pt x="0" y="0"/>
                  </a:lnTo>
                  <a:close/>
                </a:path>
              </a:pathLst>
            </a:custGeom>
            <a:blipFill>
              <a:blip r:embed="rId3">
                <a:alphaModFix amt="34000"/>
              </a:blip>
              <a:stretch>
                <a:fillRect l="0" t="0" r="0" b="0"/>
              </a:stretch>
            </a:blipFill>
          </p:spPr>
        </p:sp>
      </p:grpSp>
      <p:grpSp>
        <p:nvGrpSpPr>
          <p:cNvPr name="Group 4" id="4"/>
          <p:cNvGrpSpPr>
            <a:grpSpLocks noChangeAspect="true"/>
          </p:cNvGrpSpPr>
          <p:nvPr/>
        </p:nvGrpSpPr>
        <p:grpSpPr>
          <a:xfrm rot="-10800000">
            <a:off x="88640" y="0"/>
            <a:ext cx="18110720" cy="4663784"/>
            <a:chOff x="0" y="0"/>
            <a:chExt cx="24147626" cy="6218378"/>
          </a:xfrm>
        </p:grpSpPr>
        <p:sp>
          <p:nvSpPr>
            <p:cNvPr name="Freeform 5" id="5"/>
            <p:cNvSpPr/>
            <p:nvPr/>
          </p:nvSpPr>
          <p:spPr>
            <a:xfrm flipH="false" flipV="true" rot="0">
              <a:off x="0" y="0"/>
              <a:ext cx="24147653" cy="6218428"/>
            </a:xfrm>
            <a:custGeom>
              <a:avLst/>
              <a:gdLst/>
              <a:ahLst/>
              <a:cxnLst/>
              <a:rect r="r" b="b" t="t" l="l"/>
              <a:pathLst>
                <a:path h="6218428" w="24147653">
                  <a:moveTo>
                    <a:pt x="0" y="6218428"/>
                  </a:moveTo>
                  <a:lnTo>
                    <a:pt x="24147653" y="6218428"/>
                  </a:lnTo>
                  <a:lnTo>
                    <a:pt x="24147653" y="0"/>
                  </a:lnTo>
                  <a:lnTo>
                    <a:pt x="0" y="0"/>
                  </a:lnTo>
                  <a:lnTo>
                    <a:pt x="0" y="6218428"/>
                  </a:lnTo>
                  <a:close/>
                </a:path>
              </a:pathLst>
            </a:custGeom>
            <a:blipFill>
              <a:blip r:embed="rId4">
                <a:alphaModFix amt="99000"/>
              </a:blip>
              <a:stretch>
                <a:fillRect l="0" t="0" r="0" b="0"/>
              </a:stretch>
            </a:blipFill>
          </p:spPr>
        </p:sp>
      </p:grpSp>
      <p:grpSp>
        <p:nvGrpSpPr>
          <p:cNvPr name="Group 6" id="6"/>
          <p:cNvGrpSpPr/>
          <p:nvPr/>
        </p:nvGrpSpPr>
        <p:grpSpPr>
          <a:xfrm rot="5400000">
            <a:off x="8930316" y="962367"/>
            <a:ext cx="427364" cy="18288000"/>
            <a:chOff x="0" y="0"/>
            <a:chExt cx="569818" cy="24384000"/>
          </a:xfrm>
        </p:grpSpPr>
        <p:sp>
          <p:nvSpPr>
            <p:cNvPr name="Freeform 7" id="7"/>
            <p:cNvSpPr/>
            <p:nvPr/>
          </p:nvSpPr>
          <p:spPr>
            <a:xfrm flipH="false" flipV="false" rot="0">
              <a:off x="0" y="0"/>
              <a:ext cx="569849" cy="24384000"/>
            </a:xfrm>
            <a:custGeom>
              <a:avLst/>
              <a:gdLst/>
              <a:ahLst/>
              <a:cxnLst/>
              <a:rect r="r" b="b" t="t" l="l"/>
              <a:pathLst>
                <a:path h="24384000" w="569849">
                  <a:moveTo>
                    <a:pt x="0" y="0"/>
                  </a:moveTo>
                  <a:lnTo>
                    <a:pt x="569849" y="0"/>
                  </a:lnTo>
                  <a:lnTo>
                    <a:pt x="569849" y="24384000"/>
                  </a:lnTo>
                  <a:lnTo>
                    <a:pt x="0" y="24384000"/>
                  </a:lnTo>
                  <a:close/>
                </a:path>
              </a:pathLst>
            </a:custGeom>
            <a:solidFill>
              <a:srgbClr val="6C1D35"/>
            </a:solidFill>
          </p:spPr>
        </p:sp>
      </p:grpSp>
      <p:sp>
        <p:nvSpPr>
          <p:cNvPr name="TextBox 8" id="8"/>
          <p:cNvSpPr txBox="true"/>
          <p:nvPr/>
        </p:nvSpPr>
        <p:spPr>
          <a:xfrm rot="0">
            <a:off x="8310484" y="9909827"/>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9" id="9"/>
          <p:cNvSpPr txBox="true"/>
          <p:nvPr/>
        </p:nvSpPr>
        <p:spPr>
          <a:xfrm rot="0">
            <a:off x="3497120" y="6120282"/>
            <a:ext cx="8732520" cy="400050"/>
          </a:xfrm>
          <a:prstGeom prst="rect">
            <a:avLst/>
          </a:prstGeom>
        </p:spPr>
        <p:txBody>
          <a:bodyPr anchor="t" rtlCol="false" tIns="0" lIns="0" bIns="0" rIns="0">
            <a:spAutoFit/>
          </a:bodyPr>
          <a:lstStyle/>
          <a:p>
            <a:pPr algn="l">
              <a:lnSpc>
                <a:spcPts val="2879"/>
              </a:lnSpc>
            </a:pPr>
            <a:r>
              <a:rPr lang="en-US" sz="2400" spc="450">
                <a:solidFill>
                  <a:srgbClr val="404040"/>
                </a:solidFill>
                <a:latin typeface="Calibri (MS)"/>
                <a:ea typeface="Calibri (MS)"/>
                <a:cs typeface="Calibri (MS)"/>
                <a:sym typeface="Calibri (MS)"/>
              </a:rPr>
              <a:t>HOSTEL RESERVATION SYSTEM</a:t>
            </a:r>
          </a:p>
        </p:txBody>
      </p:sp>
      <p:sp>
        <p:nvSpPr>
          <p:cNvPr name="TextBox 10" id="10"/>
          <p:cNvSpPr txBox="true"/>
          <p:nvPr/>
        </p:nvSpPr>
        <p:spPr>
          <a:xfrm rot="0">
            <a:off x="3497120" y="5236894"/>
            <a:ext cx="8732520" cy="871447"/>
          </a:xfrm>
          <a:prstGeom prst="rect">
            <a:avLst/>
          </a:prstGeom>
        </p:spPr>
        <p:txBody>
          <a:bodyPr anchor="t" rtlCol="false" tIns="0" lIns="0" bIns="0" rIns="0">
            <a:spAutoFit/>
          </a:bodyPr>
          <a:lstStyle/>
          <a:p>
            <a:pPr algn="l">
              <a:lnSpc>
                <a:spcPts val="5759"/>
              </a:lnSpc>
            </a:pPr>
            <a:r>
              <a:rPr lang="en-US" sz="4800" spc="450">
                <a:solidFill>
                  <a:srgbClr val="404040"/>
                </a:solidFill>
                <a:latin typeface="Calibri (MS)"/>
                <a:ea typeface="Calibri (MS)"/>
                <a:cs typeface="Calibri (MS)"/>
                <a:sym typeface="Calibri (MS)"/>
              </a:rPr>
              <a:t>PRESENTATION SLIDE</a:t>
            </a:r>
          </a:p>
        </p:txBody>
      </p:sp>
      <p:sp>
        <p:nvSpPr>
          <p:cNvPr name="TextBox 11" id="11"/>
          <p:cNvSpPr txBox="true"/>
          <p:nvPr/>
        </p:nvSpPr>
        <p:spPr>
          <a:xfrm rot="0">
            <a:off x="3497120" y="3218154"/>
            <a:ext cx="9464961" cy="2221260"/>
          </a:xfrm>
          <a:prstGeom prst="rect">
            <a:avLst/>
          </a:prstGeom>
        </p:spPr>
        <p:txBody>
          <a:bodyPr anchor="t" rtlCol="false" tIns="0" lIns="0" bIns="0" rIns="0">
            <a:spAutoFit/>
          </a:bodyPr>
          <a:lstStyle/>
          <a:p>
            <a:pPr algn="l">
              <a:lnSpc>
                <a:spcPts val="7920"/>
              </a:lnSpc>
            </a:pPr>
            <a:r>
              <a:rPr lang="en-US" sz="6600" b="true">
                <a:solidFill>
                  <a:srgbClr val="6C1D35"/>
                </a:solidFill>
                <a:latin typeface="Calibri (MS) Bold"/>
                <a:ea typeface="Calibri (MS) Bold"/>
                <a:cs typeface="Calibri (MS) Bold"/>
                <a:sym typeface="Calibri (MS) Bold"/>
              </a:rPr>
              <a:t>UNIVERSITI TEKNOLOGI MALAYSIA</a:t>
            </a:r>
          </a:p>
        </p:txBody>
      </p:sp>
      <p:grpSp>
        <p:nvGrpSpPr>
          <p:cNvPr name="Group 12" id="12"/>
          <p:cNvGrpSpPr>
            <a:grpSpLocks noChangeAspect="true"/>
          </p:cNvGrpSpPr>
          <p:nvPr/>
        </p:nvGrpSpPr>
        <p:grpSpPr>
          <a:xfrm rot="0">
            <a:off x="7090723" y="899274"/>
            <a:ext cx="3374110" cy="1127841"/>
            <a:chOff x="0" y="0"/>
            <a:chExt cx="4498814" cy="1503788"/>
          </a:xfrm>
        </p:grpSpPr>
        <p:sp>
          <p:nvSpPr>
            <p:cNvPr name="Freeform 13" id="13"/>
            <p:cNvSpPr/>
            <p:nvPr/>
          </p:nvSpPr>
          <p:spPr>
            <a:xfrm flipH="false" flipV="false" rot="0">
              <a:off x="0" y="0"/>
              <a:ext cx="4498848" cy="1503807"/>
            </a:xfrm>
            <a:custGeom>
              <a:avLst/>
              <a:gdLst/>
              <a:ahLst/>
              <a:cxnLst/>
              <a:rect r="r" b="b" t="t" l="l"/>
              <a:pathLst>
                <a:path h="1503807" w="4498848">
                  <a:moveTo>
                    <a:pt x="0" y="0"/>
                  </a:moveTo>
                  <a:lnTo>
                    <a:pt x="4498848" y="0"/>
                  </a:lnTo>
                  <a:lnTo>
                    <a:pt x="4498848" y="1503807"/>
                  </a:lnTo>
                  <a:lnTo>
                    <a:pt x="0" y="1503807"/>
                  </a:lnTo>
                  <a:lnTo>
                    <a:pt x="0" y="0"/>
                  </a:lnTo>
                  <a:close/>
                </a:path>
              </a:pathLst>
            </a:custGeom>
            <a:blipFill>
              <a:blip r:embed="rId5"/>
              <a:stretch>
                <a:fillRect l="0" t="0" r="0" b="1"/>
              </a:stretch>
            </a:blipFill>
          </p:spPr>
        </p:sp>
      </p:grpSp>
      <p:grpSp>
        <p:nvGrpSpPr>
          <p:cNvPr name="Group 14" id="14"/>
          <p:cNvGrpSpPr>
            <a:grpSpLocks noChangeAspect="true"/>
          </p:cNvGrpSpPr>
          <p:nvPr/>
        </p:nvGrpSpPr>
        <p:grpSpPr>
          <a:xfrm rot="0">
            <a:off x="7767643" y="9529413"/>
            <a:ext cx="3205157" cy="241209"/>
            <a:chOff x="0" y="0"/>
            <a:chExt cx="4273542" cy="321612"/>
          </a:xfrm>
        </p:grpSpPr>
        <p:sp>
          <p:nvSpPr>
            <p:cNvPr name="Freeform 15" id="15"/>
            <p:cNvSpPr/>
            <p:nvPr/>
          </p:nvSpPr>
          <p:spPr>
            <a:xfrm flipH="false" flipV="false" rot="0">
              <a:off x="0" y="0"/>
              <a:ext cx="4273550" cy="321564"/>
            </a:xfrm>
            <a:custGeom>
              <a:avLst/>
              <a:gdLst/>
              <a:ahLst/>
              <a:cxnLst/>
              <a:rect r="r" b="b" t="t" l="l"/>
              <a:pathLst>
                <a:path h="321564" w="4273550">
                  <a:moveTo>
                    <a:pt x="0" y="0"/>
                  </a:moveTo>
                  <a:lnTo>
                    <a:pt x="4273550" y="0"/>
                  </a:lnTo>
                  <a:lnTo>
                    <a:pt x="4273550" y="321564"/>
                  </a:lnTo>
                  <a:lnTo>
                    <a:pt x="0" y="321564"/>
                  </a:lnTo>
                  <a:lnTo>
                    <a:pt x="0" y="0"/>
                  </a:lnTo>
                  <a:close/>
                </a:path>
              </a:pathLst>
            </a:custGeom>
            <a:blipFill>
              <a:blip r:embed="rId6"/>
              <a:stretch>
                <a:fillRect l="0" t="0" r="0" b="-14"/>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7069892"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3"/>
              <a:stretch>
                <a:fillRect l="0" t="0" r="0" b="0"/>
              </a:stretch>
            </a:blipFill>
          </p:spPr>
        </p:sp>
      </p:grpSp>
      <p:grpSp>
        <p:nvGrpSpPr>
          <p:cNvPr name="Group 4" id="4"/>
          <p:cNvGrpSpPr/>
          <p:nvPr/>
        </p:nvGrpSpPr>
        <p:grpSpPr>
          <a:xfrm rot="0">
            <a:off x="-57148" y="0"/>
            <a:ext cx="7146132" cy="10287000"/>
            <a:chOff x="0" y="0"/>
            <a:chExt cx="9528176" cy="13716000"/>
          </a:xfrm>
        </p:grpSpPr>
        <p:sp>
          <p:nvSpPr>
            <p:cNvPr name="Freeform 5" id="5"/>
            <p:cNvSpPr/>
            <p:nvPr/>
          </p:nvSpPr>
          <p:spPr>
            <a:xfrm flipH="false" flipV="false" rot="0">
              <a:off x="0" y="0"/>
              <a:ext cx="9528175" cy="13716000"/>
            </a:xfrm>
            <a:custGeom>
              <a:avLst/>
              <a:gdLst/>
              <a:ahLst/>
              <a:cxnLst/>
              <a:rect r="r" b="b" t="t" l="l"/>
              <a:pathLst>
                <a:path h="13716000" w="9528175">
                  <a:moveTo>
                    <a:pt x="0" y="0"/>
                  </a:moveTo>
                  <a:lnTo>
                    <a:pt x="9528175" y="0"/>
                  </a:lnTo>
                  <a:lnTo>
                    <a:pt x="9528175" y="13716000"/>
                  </a:lnTo>
                  <a:lnTo>
                    <a:pt x="0" y="13716000"/>
                  </a:lnTo>
                  <a:close/>
                </a:path>
              </a:pathLst>
            </a:custGeom>
            <a:solidFill>
              <a:srgbClr val="6C1D35"/>
            </a:solidFill>
          </p:spPr>
        </p:sp>
      </p:grpSp>
      <p:grpSp>
        <p:nvGrpSpPr>
          <p:cNvPr name="Group 6" id="6"/>
          <p:cNvGrpSpPr>
            <a:grpSpLocks noChangeAspect="true"/>
          </p:cNvGrpSpPr>
          <p:nvPr/>
        </p:nvGrpSpPr>
        <p:grpSpPr>
          <a:xfrm rot="0">
            <a:off x="15718317" y="425385"/>
            <a:ext cx="2202251" cy="746192"/>
            <a:chOff x="0" y="0"/>
            <a:chExt cx="2936334" cy="994922"/>
          </a:xfrm>
        </p:grpSpPr>
        <p:sp>
          <p:nvSpPr>
            <p:cNvPr name="Freeform 7" id="7"/>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4"/>
              <a:stretch>
                <a:fillRect l="0" t="0" r="1" b="0"/>
              </a:stretch>
            </a:blipFill>
          </p:spPr>
        </p:sp>
      </p:grpSp>
      <p:grpSp>
        <p:nvGrpSpPr>
          <p:cNvPr name="Group 8" id="8"/>
          <p:cNvGrpSpPr/>
          <p:nvPr/>
        </p:nvGrpSpPr>
        <p:grpSpPr>
          <a:xfrm rot="5400000">
            <a:off x="1986429" y="5098776"/>
            <a:ext cx="10287000" cy="89452"/>
            <a:chOff x="0" y="0"/>
            <a:chExt cx="13716000" cy="119270"/>
          </a:xfrm>
        </p:grpSpPr>
        <p:sp>
          <p:nvSpPr>
            <p:cNvPr name="Freeform 9" id="9"/>
            <p:cNvSpPr/>
            <p:nvPr/>
          </p:nvSpPr>
          <p:spPr>
            <a:xfrm flipH="false" flipV="false" rot="0">
              <a:off x="0" y="0"/>
              <a:ext cx="13716000" cy="119253"/>
            </a:xfrm>
            <a:custGeom>
              <a:avLst/>
              <a:gdLst/>
              <a:ahLst/>
              <a:cxnLst/>
              <a:rect r="r" b="b" t="t" l="l"/>
              <a:pathLst>
                <a:path h="119253" w="13716000">
                  <a:moveTo>
                    <a:pt x="0" y="0"/>
                  </a:moveTo>
                  <a:lnTo>
                    <a:pt x="13716000" y="0"/>
                  </a:lnTo>
                  <a:lnTo>
                    <a:pt x="13716000" y="119253"/>
                  </a:lnTo>
                  <a:lnTo>
                    <a:pt x="0" y="119253"/>
                  </a:lnTo>
                  <a:close/>
                </a:path>
              </a:pathLst>
            </a:custGeom>
            <a:solidFill>
              <a:srgbClr val="D9D9D9"/>
            </a:solidFill>
          </p:spPr>
        </p:sp>
      </p:grpSp>
      <p:grpSp>
        <p:nvGrpSpPr>
          <p:cNvPr name="Group 10" id="10"/>
          <p:cNvGrpSpPr/>
          <p:nvPr/>
        </p:nvGrpSpPr>
        <p:grpSpPr>
          <a:xfrm rot="0">
            <a:off x="17895582" y="7350098"/>
            <a:ext cx="392418" cy="2184427"/>
            <a:chOff x="0" y="0"/>
            <a:chExt cx="523224" cy="2912570"/>
          </a:xfrm>
        </p:grpSpPr>
        <p:sp>
          <p:nvSpPr>
            <p:cNvPr name="Freeform 11" id="11"/>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TextBox 12" id="12"/>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3" id="13"/>
          <p:cNvSpPr txBox="true"/>
          <p:nvPr/>
        </p:nvSpPr>
        <p:spPr>
          <a:xfrm rot="0">
            <a:off x="9778984" y="2032818"/>
            <a:ext cx="7480316" cy="523875"/>
          </a:xfrm>
          <a:prstGeom prst="rect">
            <a:avLst/>
          </a:prstGeom>
        </p:spPr>
        <p:txBody>
          <a:bodyPr anchor="t" rtlCol="false" tIns="0" lIns="0" bIns="0" rIns="0">
            <a:spAutoFit/>
          </a:bodyPr>
          <a:lstStyle/>
          <a:p>
            <a:pPr algn="l">
              <a:lnSpc>
                <a:spcPts val="3600"/>
              </a:lnSpc>
            </a:pPr>
            <a:r>
              <a:rPr lang="en-US" sz="3000" b="true">
                <a:solidFill>
                  <a:srgbClr val="000000"/>
                </a:solidFill>
                <a:latin typeface="Calibri (MS) Bold"/>
                <a:ea typeface="Calibri (MS) Bold"/>
                <a:cs typeface="Calibri (MS) Bold"/>
                <a:sym typeface="Calibri (MS) Bold"/>
              </a:rPr>
              <a:t>MUHAMMAD AFIQ DANISH BIN MOHD HAZNI</a:t>
            </a:r>
          </a:p>
        </p:txBody>
      </p:sp>
      <p:sp>
        <p:nvSpPr>
          <p:cNvPr name="TextBox 14" id="14"/>
          <p:cNvSpPr txBox="true"/>
          <p:nvPr/>
        </p:nvSpPr>
        <p:spPr>
          <a:xfrm rot="0">
            <a:off x="8371482" y="1868295"/>
            <a:ext cx="1221144" cy="992356"/>
          </a:xfrm>
          <a:prstGeom prst="rect">
            <a:avLst/>
          </a:prstGeom>
        </p:spPr>
        <p:txBody>
          <a:bodyPr anchor="t" rtlCol="false" tIns="0" lIns="0" bIns="0" rIns="0">
            <a:spAutoFit/>
          </a:bodyPr>
          <a:lstStyle/>
          <a:p>
            <a:pPr algn="ctr">
              <a:lnSpc>
                <a:spcPts val="6480"/>
              </a:lnSpc>
            </a:pPr>
            <a:r>
              <a:rPr lang="en-US" sz="5400" b="true">
                <a:solidFill>
                  <a:srgbClr val="000000"/>
                </a:solidFill>
                <a:latin typeface="Calibri (MS) Bold"/>
                <a:ea typeface="Calibri (MS) Bold"/>
                <a:cs typeface="Calibri (MS) Bold"/>
                <a:sym typeface="Calibri (MS) Bold"/>
              </a:rPr>
              <a:t>01</a:t>
            </a:r>
          </a:p>
        </p:txBody>
      </p:sp>
      <p:sp>
        <p:nvSpPr>
          <p:cNvPr name="TextBox 15" id="15"/>
          <p:cNvSpPr txBox="true"/>
          <p:nvPr/>
        </p:nvSpPr>
        <p:spPr>
          <a:xfrm rot="0">
            <a:off x="9778984" y="2701471"/>
            <a:ext cx="6051303" cy="933450"/>
          </a:xfrm>
          <a:prstGeom prst="rect">
            <a:avLst/>
          </a:prstGeom>
        </p:spPr>
        <p:txBody>
          <a:bodyPr anchor="t" rtlCol="false" tIns="0" lIns="0" bIns="0" rIns="0">
            <a:spAutoFit/>
          </a:bodyPr>
          <a:lstStyle/>
          <a:p>
            <a:pPr algn="just" marL="431799" indent="-215899" lvl="1">
              <a:lnSpc>
                <a:spcPts val="2399"/>
              </a:lnSpc>
              <a:buFont typeface="Arial"/>
              <a:buChar char="•"/>
            </a:pPr>
            <a:r>
              <a:rPr lang="en-US" sz="1999">
                <a:solidFill>
                  <a:srgbClr val="000000"/>
                </a:solidFill>
                <a:latin typeface="Calibri (MS)"/>
                <a:ea typeface="Calibri (MS)"/>
                <a:cs typeface="Calibri (MS)"/>
                <a:sym typeface="Calibri (MS)"/>
              </a:rPr>
              <a:t>Design overall database structure</a:t>
            </a:r>
          </a:p>
          <a:p>
            <a:pPr algn="just" marL="431799" indent="-215899" lvl="1">
              <a:lnSpc>
                <a:spcPts val="2399"/>
              </a:lnSpc>
              <a:buFont typeface="Arial"/>
              <a:buChar char="•"/>
            </a:pPr>
            <a:r>
              <a:rPr lang="en-US" sz="1999">
                <a:solidFill>
                  <a:srgbClr val="000000"/>
                </a:solidFill>
                <a:latin typeface="Calibri (MS)"/>
                <a:ea typeface="Calibri (MS)"/>
                <a:cs typeface="Calibri (MS)"/>
                <a:sym typeface="Calibri (MS)"/>
              </a:rPr>
              <a:t>Applied key constraints</a:t>
            </a:r>
          </a:p>
          <a:p>
            <a:pPr algn="just" marL="431799" indent="-215899" lvl="1">
              <a:lnSpc>
                <a:spcPts val="2399"/>
              </a:lnSpc>
              <a:buFont typeface="Arial"/>
              <a:buChar char="•"/>
            </a:pPr>
            <a:r>
              <a:rPr lang="en-US" sz="1999">
                <a:solidFill>
                  <a:srgbClr val="000000"/>
                </a:solidFill>
                <a:latin typeface="Calibri (MS)"/>
                <a:ea typeface="Calibri (MS)"/>
                <a:cs typeface="Calibri (MS)"/>
                <a:sym typeface="Calibri (MS)"/>
              </a:rPr>
              <a:t>Ensure smooth integration between tables</a:t>
            </a:r>
          </a:p>
        </p:txBody>
      </p:sp>
      <p:sp>
        <p:nvSpPr>
          <p:cNvPr name="TextBox 16" id="16"/>
          <p:cNvSpPr txBox="true"/>
          <p:nvPr/>
        </p:nvSpPr>
        <p:spPr>
          <a:xfrm rot="0">
            <a:off x="9778984" y="3908345"/>
            <a:ext cx="6853763" cy="523875"/>
          </a:xfrm>
          <a:prstGeom prst="rect">
            <a:avLst/>
          </a:prstGeom>
        </p:spPr>
        <p:txBody>
          <a:bodyPr anchor="t" rtlCol="false" tIns="0" lIns="0" bIns="0" rIns="0">
            <a:spAutoFit/>
          </a:bodyPr>
          <a:lstStyle/>
          <a:p>
            <a:pPr algn="l">
              <a:lnSpc>
                <a:spcPts val="3600"/>
              </a:lnSpc>
            </a:pPr>
            <a:r>
              <a:rPr lang="en-US" sz="3000" b="true">
                <a:solidFill>
                  <a:srgbClr val="000000"/>
                </a:solidFill>
                <a:latin typeface="Calibri (MS) Bold"/>
                <a:ea typeface="Calibri (MS) Bold"/>
                <a:cs typeface="Calibri (MS) Bold"/>
                <a:sym typeface="Calibri (MS) Bold"/>
              </a:rPr>
              <a:t>DHESHIEGHAN A/L SARAVANA MOORTHY</a:t>
            </a:r>
          </a:p>
        </p:txBody>
      </p:sp>
      <p:sp>
        <p:nvSpPr>
          <p:cNvPr name="TextBox 17" id="17"/>
          <p:cNvSpPr txBox="true"/>
          <p:nvPr/>
        </p:nvSpPr>
        <p:spPr>
          <a:xfrm rot="0">
            <a:off x="8371482" y="3743822"/>
            <a:ext cx="1221144" cy="992357"/>
          </a:xfrm>
          <a:prstGeom prst="rect">
            <a:avLst/>
          </a:prstGeom>
        </p:spPr>
        <p:txBody>
          <a:bodyPr anchor="t" rtlCol="false" tIns="0" lIns="0" bIns="0" rIns="0">
            <a:spAutoFit/>
          </a:bodyPr>
          <a:lstStyle/>
          <a:p>
            <a:pPr algn="ctr">
              <a:lnSpc>
                <a:spcPts val="6480"/>
              </a:lnSpc>
            </a:pPr>
            <a:r>
              <a:rPr lang="en-US" sz="5400" b="true">
                <a:solidFill>
                  <a:srgbClr val="000000"/>
                </a:solidFill>
                <a:latin typeface="Calibri (MS) Bold"/>
                <a:ea typeface="Calibri (MS) Bold"/>
                <a:cs typeface="Calibri (MS) Bold"/>
                <a:sym typeface="Calibri (MS) Bold"/>
              </a:rPr>
              <a:t>02</a:t>
            </a:r>
          </a:p>
        </p:txBody>
      </p:sp>
      <p:sp>
        <p:nvSpPr>
          <p:cNvPr name="TextBox 18" id="18"/>
          <p:cNvSpPr txBox="true"/>
          <p:nvPr/>
        </p:nvSpPr>
        <p:spPr>
          <a:xfrm rot="0">
            <a:off x="9890925" y="4553817"/>
            <a:ext cx="6051303" cy="304800"/>
          </a:xfrm>
          <a:prstGeom prst="rect">
            <a:avLst/>
          </a:prstGeom>
        </p:spPr>
        <p:txBody>
          <a:bodyPr anchor="t" rtlCol="false" tIns="0" lIns="0" bIns="0" rIns="0">
            <a:spAutoFit/>
          </a:bodyPr>
          <a:lstStyle/>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Data Manipulation &amp; Query Developer (DML + DQL)</a:t>
            </a:r>
          </a:p>
        </p:txBody>
      </p:sp>
      <p:sp>
        <p:nvSpPr>
          <p:cNvPr name="TextBox 19" id="19"/>
          <p:cNvSpPr txBox="true"/>
          <p:nvPr/>
        </p:nvSpPr>
        <p:spPr>
          <a:xfrm rot="0">
            <a:off x="9778984" y="5785773"/>
            <a:ext cx="6545538" cy="523875"/>
          </a:xfrm>
          <a:prstGeom prst="rect">
            <a:avLst/>
          </a:prstGeom>
        </p:spPr>
        <p:txBody>
          <a:bodyPr anchor="t" rtlCol="false" tIns="0" lIns="0" bIns="0" rIns="0">
            <a:spAutoFit/>
          </a:bodyPr>
          <a:lstStyle/>
          <a:p>
            <a:pPr algn="l">
              <a:lnSpc>
                <a:spcPts val="3600"/>
              </a:lnSpc>
            </a:pPr>
            <a:r>
              <a:rPr lang="en-US" sz="3000" b="true">
                <a:solidFill>
                  <a:srgbClr val="000000"/>
                </a:solidFill>
                <a:latin typeface="Calibri (MS) Bold"/>
                <a:ea typeface="Calibri (MS) Bold"/>
                <a:cs typeface="Calibri (MS) Bold"/>
                <a:sym typeface="Calibri (MS) Bold"/>
              </a:rPr>
              <a:t>MUHAMMAD SYAHMI FARIS BIN RUSLI</a:t>
            </a:r>
          </a:p>
        </p:txBody>
      </p:sp>
      <p:sp>
        <p:nvSpPr>
          <p:cNvPr name="TextBox 20" id="20"/>
          <p:cNvSpPr txBox="true"/>
          <p:nvPr/>
        </p:nvSpPr>
        <p:spPr>
          <a:xfrm rot="0">
            <a:off x="8371482" y="5621250"/>
            <a:ext cx="1221144" cy="992357"/>
          </a:xfrm>
          <a:prstGeom prst="rect">
            <a:avLst/>
          </a:prstGeom>
        </p:spPr>
        <p:txBody>
          <a:bodyPr anchor="t" rtlCol="false" tIns="0" lIns="0" bIns="0" rIns="0">
            <a:spAutoFit/>
          </a:bodyPr>
          <a:lstStyle/>
          <a:p>
            <a:pPr algn="ctr">
              <a:lnSpc>
                <a:spcPts val="6480"/>
              </a:lnSpc>
            </a:pPr>
            <a:r>
              <a:rPr lang="en-US" sz="5400" b="true">
                <a:solidFill>
                  <a:srgbClr val="000000"/>
                </a:solidFill>
                <a:latin typeface="Calibri (MS) Bold"/>
                <a:ea typeface="Calibri (MS) Bold"/>
                <a:cs typeface="Calibri (MS) Bold"/>
                <a:sym typeface="Calibri (MS) Bold"/>
              </a:rPr>
              <a:t>03</a:t>
            </a:r>
          </a:p>
        </p:txBody>
      </p:sp>
      <p:sp>
        <p:nvSpPr>
          <p:cNvPr name="TextBox 21" id="21"/>
          <p:cNvSpPr txBox="true"/>
          <p:nvPr/>
        </p:nvSpPr>
        <p:spPr>
          <a:xfrm rot="0">
            <a:off x="9890925" y="6431245"/>
            <a:ext cx="6051303" cy="1104900"/>
          </a:xfrm>
          <a:prstGeom prst="rect">
            <a:avLst/>
          </a:prstGeom>
        </p:spPr>
        <p:txBody>
          <a:bodyPr anchor="t" rtlCol="false" tIns="0" lIns="0" bIns="0" rIns="0">
            <a:spAutoFit/>
          </a:bodyPr>
          <a:lstStyle/>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Query Specialist </a:t>
            </a:r>
          </a:p>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Developed all DQL queries</a:t>
            </a:r>
          </a:p>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Generated outputs and validated results</a:t>
            </a:r>
          </a:p>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Ensured accurate data retrieval across tables</a:t>
            </a:r>
          </a:p>
        </p:txBody>
      </p:sp>
      <p:sp>
        <p:nvSpPr>
          <p:cNvPr name="TextBox 22" id="22"/>
          <p:cNvSpPr txBox="true"/>
          <p:nvPr/>
        </p:nvSpPr>
        <p:spPr>
          <a:xfrm rot="0">
            <a:off x="9778984" y="7666548"/>
            <a:ext cx="6545538" cy="523875"/>
          </a:xfrm>
          <a:prstGeom prst="rect">
            <a:avLst/>
          </a:prstGeom>
        </p:spPr>
        <p:txBody>
          <a:bodyPr anchor="t" rtlCol="false" tIns="0" lIns="0" bIns="0" rIns="0">
            <a:spAutoFit/>
          </a:bodyPr>
          <a:lstStyle/>
          <a:p>
            <a:pPr algn="l">
              <a:lnSpc>
                <a:spcPts val="3600"/>
              </a:lnSpc>
            </a:pPr>
            <a:r>
              <a:rPr lang="en-US" sz="3000" b="true">
                <a:solidFill>
                  <a:srgbClr val="000000"/>
                </a:solidFill>
                <a:latin typeface="Calibri (MS) Bold"/>
                <a:ea typeface="Calibri (MS) Bold"/>
                <a:cs typeface="Calibri (MS) Bold"/>
                <a:sym typeface="Calibri (MS) Bold"/>
              </a:rPr>
              <a:t>PRAVINRAJ A/L SIVABATHI</a:t>
            </a:r>
          </a:p>
        </p:txBody>
      </p:sp>
      <p:sp>
        <p:nvSpPr>
          <p:cNvPr name="TextBox 23" id="23"/>
          <p:cNvSpPr txBox="true"/>
          <p:nvPr/>
        </p:nvSpPr>
        <p:spPr>
          <a:xfrm rot="0">
            <a:off x="8371482" y="7502025"/>
            <a:ext cx="1221144" cy="992357"/>
          </a:xfrm>
          <a:prstGeom prst="rect">
            <a:avLst/>
          </a:prstGeom>
        </p:spPr>
        <p:txBody>
          <a:bodyPr anchor="t" rtlCol="false" tIns="0" lIns="0" bIns="0" rIns="0">
            <a:spAutoFit/>
          </a:bodyPr>
          <a:lstStyle/>
          <a:p>
            <a:pPr algn="ctr">
              <a:lnSpc>
                <a:spcPts val="6480"/>
              </a:lnSpc>
            </a:pPr>
            <a:r>
              <a:rPr lang="en-US" sz="5400" b="true">
                <a:solidFill>
                  <a:srgbClr val="000000"/>
                </a:solidFill>
                <a:latin typeface="Calibri (MS) Bold"/>
                <a:ea typeface="Calibri (MS) Bold"/>
                <a:cs typeface="Calibri (MS) Bold"/>
                <a:sym typeface="Calibri (MS) Bold"/>
              </a:rPr>
              <a:t>04</a:t>
            </a:r>
          </a:p>
        </p:txBody>
      </p:sp>
      <p:sp>
        <p:nvSpPr>
          <p:cNvPr name="TextBox 24" id="24"/>
          <p:cNvSpPr txBox="true"/>
          <p:nvPr/>
        </p:nvSpPr>
        <p:spPr>
          <a:xfrm rot="0">
            <a:off x="9890925" y="8312020"/>
            <a:ext cx="6051303" cy="304800"/>
          </a:xfrm>
          <a:prstGeom prst="rect">
            <a:avLst/>
          </a:prstGeom>
        </p:spPr>
        <p:txBody>
          <a:bodyPr anchor="t" rtlCol="false" tIns="0" lIns="0" bIns="0" rIns="0">
            <a:spAutoFit/>
          </a:bodyPr>
          <a:lstStyle/>
          <a:p>
            <a:pPr algn="l" marL="388620" indent="-194310" lvl="1">
              <a:lnSpc>
                <a:spcPts val="2160"/>
              </a:lnSpc>
              <a:buFont typeface="Arial"/>
              <a:buChar char="•"/>
            </a:pPr>
            <a:r>
              <a:rPr lang="en-US" sz="1800">
                <a:solidFill>
                  <a:srgbClr val="000000"/>
                </a:solidFill>
                <a:latin typeface="Calibri (MS)"/>
                <a:ea typeface="Calibri (MS)"/>
                <a:cs typeface="Calibri (MS)"/>
                <a:sym typeface="Calibri (MS)"/>
              </a:rPr>
              <a:t>Indexing &amp; Optimization Analyst</a:t>
            </a:r>
          </a:p>
        </p:txBody>
      </p:sp>
      <p:grpSp>
        <p:nvGrpSpPr>
          <p:cNvPr name="Group 25" id="25"/>
          <p:cNvGrpSpPr>
            <a:grpSpLocks noChangeAspect="true"/>
          </p:cNvGrpSpPr>
          <p:nvPr/>
        </p:nvGrpSpPr>
        <p:grpSpPr>
          <a:xfrm rot="0">
            <a:off x="7671027" y="9891408"/>
            <a:ext cx="2926896" cy="220267"/>
            <a:chOff x="0" y="0"/>
            <a:chExt cx="3902528" cy="293690"/>
          </a:xfrm>
        </p:grpSpPr>
        <p:sp>
          <p:nvSpPr>
            <p:cNvPr name="Freeform 26" id="26"/>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5"/>
              <a:stretch>
                <a:fillRect l="0" t="0" r="1" b="20"/>
              </a:stretch>
            </a:blipFill>
          </p:spPr>
        </p:sp>
      </p:grpSp>
      <p:grpSp>
        <p:nvGrpSpPr>
          <p:cNvPr name="Group 27" id="27"/>
          <p:cNvGrpSpPr/>
          <p:nvPr/>
        </p:nvGrpSpPr>
        <p:grpSpPr>
          <a:xfrm rot="0">
            <a:off x="522848" y="3911601"/>
            <a:ext cx="5986140" cy="2562746"/>
            <a:chOff x="0" y="0"/>
            <a:chExt cx="7981520" cy="3416995"/>
          </a:xfrm>
        </p:grpSpPr>
        <p:sp>
          <p:nvSpPr>
            <p:cNvPr name="Freeform 28" id="28"/>
            <p:cNvSpPr/>
            <p:nvPr/>
          </p:nvSpPr>
          <p:spPr>
            <a:xfrm flipH="false" flipV="false" rot="0">
              <a:off x="0" y="0"/>
              <a:ext cx="7981521" cy="3416995"/>
            </a:xfrm>
            <a:custGeom>
              <a:avLst/>
              <a:gdLst/>
              <a:ahLst/>
              <a:cxnLst/>
              <a:rect r="r" b="b" t="t" l="l"/>
              <a:pathLst>
                <a:path h="3416995" w="7981521">
                  <a:moveTo>
                    <a:pt x="0" y="0"/>
                  </a:moveTo>
                  <a:lnTo>
                    <a:pt x="7981521" y="0"/>
                  </a:lnTo>
                  <a:lnTo>
                    <a:pt x="7981521" y="3416995"/>
                  </a:lnTo>
                  <a:lnTo>
                    <a:pt x="0" y="3416995"/>
                  </a:lnTo>
                  <a:close/>
                </a:path>
              </a:pathLst>
            </a:custGeom>
          </p:spPr>
        </p:sp>
        <p:sp>
          <p:nvSpPr>
            <p:cNvPr name="TextBox 29" id="29"/>
            <p:cNvSpPr txBox="true"/>
            <p:nvPr/>
          </p:nvSpPr>
          <p:spPr>
            <a:xfrm>
              <a:off x="0" y="-476250"/>
              <a:ext cx="7981520" cy="3893245"/>
            </a:xfrm>
            <a:prstGeom prst="rect">
              <a:avLst/>
            </a:prstGeom>
          </p:spPr>
          <p:txBody>
            <a:bodyPr anchor="ctr" rtlCol="false" tIns="0" lIns="0" bIns="0" rIns="0"/>
            <a:lstStyle/>
            <a:p>
              <a:pPr algn="ctr">
                <a:lnSpc>
                  <a:spcPts val="10799"/>
                </a:lnSpc>
              </a:pPr>
              <a:r>
                <a:rPr lang="en-US" b="true" sz="5999" spc="-35">
                  <a:solidFill>
                    <a:srgbClr val="FFFFFF"/>
                  </a:solidFill>
                  <a:latin typeface="Calibri (MS) Bold"/>
                  <a:ea typeface="Calibri (MS) Bold"/>
                  <a:cs typeface="Calibri (MS) Bold"/>
                  <a:sym typeface="Calibri (MS) Bold"/>
                </a:rPr>
                <a:t>Team</a:t>
              </a:r>
            </a:p>
            <a:p>
              <a:pPr algn="ctr">
                <a:lnSpc>
                  <a:spcPts val="10799"/>
                </a:lnSpc>
              </a:pPr>
              <a:r>
                <a:rPr lang="en-US" b="true" sz="5999" spc="-36">
                  <a:solidFill>
                    <a:srgbClr val="FFFFFF"/>
                  </a:solidFill>
                  <a:latin typeface="Calibri (MS) Bold"/>
                  <a:ea typeface="Calibri (MS) Bold"/>
                  <a:cs typeface="Calibri (MS) Bold"/>
                  <a:sym typeface="Calibri (MS) Bold"/>
                </a:rPr>
                <a:t>Roles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6" y="1905"/>
            <a:ext cx="18110720" cy="4663784"/>
            <a:chOff x="0" y="0"/>
            <a:chExt cx="24147626" cy="6218378"/>
          </a:xfrm>
        </p:grpSpPr>
        <p:sp>
          <p:nvSpPr>
            <p:cNvPr name="Freeform 3" id="3"/>
            <p:cNvSpPr/>
            <p:nvPr/>
          </p:nvSpPr>
          <p:spPr>
            <a:xfrm flipH="false" flipV="true" rot="0">
              <a:off x="0" y="0"/>
              <a:ext cx="24147653" cy="6218428"/>
            </a:xfrm>
            <a:custGeom>
              <a:avLst/>
              <a:gdLst/>
              <a:ahLst/>
              <a:cxnLst/>
              <a:rect r="r" b="b" t="t" l="l"/>
              <a:pathLst>
                <a:path h="6218428" w="24147653">
                  <a:moveTo>
                    <a:pt x="0" y="6218428"/>
                  </a:moveTo>
                  <a:lnTo>
                    <a:pt x="24147653" y="6218428"/>
                  </a:lnTo>
                  <a:lnTo>
                    <a:pt x="24147653" y="0"/>
                  </a:lnTo>
                  <a:lnTo>
                    <a:pt x="0" y="0"/>
                  </a:lnTo>
                  <a:lnTo>
                    <a:pt x="0" y="6218428"/>
                  </a:lnTo>
                  <a:close/>
                </a:path>
              </a:pathLst>
            </a:custGeom>
            <a:blipFill>
              <a:blip r:embed="rId3">
                <a:alphaModFix amt="99000"/>
              </a:blip>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4"/>
              <a:stretch>
                <a:fillRect l="0" t="0" r="1" b="0"/>
              </a:stretch>
            </a:blipFill>
          </p:spPr>
        </p:sp>
      </p:grpSp>
      <p:sp>
        <p:nvSpPr>
          <p:cNvPr name="Freeform 6" id="6"/>
          <p:cNvSpPr/>
          <p:nvPr/>
        </p:nvSpPr>
        <p:spPr>
          <a:xfrm flipH="false" flipV="false" rot="0">
            <a:off x="0" y="505299"/>
            <a:ext cx="1257300" cy="586362"/>
          </a:xfrm>
          <a:custGeom>
            <a:avLst/>
            <a:gdLst/>
            <a:ahLst/>
            <a:cxnLst/>
            <a:rect r="r" b="b" t="t" l="l"/>
            <a:pathLst>
              <a:path h="586362" w="1257300">
                <a:moveTo>
                  <a:pt x="0" y="0"/>
                </a:moveTo>
                <a:lnTo>
                  <a:pt x="1257300" y="0"/>
                </a:lnTo>
                <a:lnTo>
                  <a:pt x="1257300" y="586362"/>
                </a:lnTo>
                <a:lnTo>
                  <a:pt x="0" y="5863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7895582" y="7350098"/>
            <a:ext cx="392418" cy="2184427"/>
            <a:chOff x="0" y="0"/>
            <a:chExt cx="523224" cy="2912570"/>
          </a:xfrm>
        </p:grpSpPr>
        <p:sp>
          <p:nvSpPr>
            <p:cNvPr name="Freeform 8" id="8"/>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TextBox 9" id="9"/>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0" id="10"/>
          <p:cNvSpPr txBox="true"/>
          <p:nvPr/>
        </p:nvSpPr>
        <p:spPr>
          <a:xfrm rot="0">
            <a:off x="1628863" y="3238500"/>
            <a:ext cx="8240889" cy="4389120"/>
          </a:xfrm>
          <a:prstGeom prst="rect">
            <a:avLst/>
          </a:prstGeom>
        </p:spPr>
        <p:txBody>
          <a:bodyPr anchor="t" rtlCol="false" tIns="0" lIns="0" bIns="0" rIns="0">
            <a:spAutoFit/>
          </a:bodyPr>
          <a:lstStyle/>
          <a:p>
            <a:pPr algn="just" marL="820422" indent="-410211" lvl="1">
              <a:lnSpc>
                <a:spcPts val="5700"/>
              </a:lnSpc>
              <a:buFont typeface="Arial"/>
              <a:buChar char="•"/>
            </a:pPr>
            <a:r>
              <a:rPr lang="en-US" sz="3800">
                <a:solidFill>
                  <a:srgbClr val="666666"/>
                </a:solidFill>
                <a:latin typeface="Calibri (MS)"/>
                <a:ea typeface="Calibri (MS)"/>
                <a:cs typeface="Calibri (MS)"/>
                <a:sym typeface="Calibri (MS)"/>
              </a:rPr>
              <a:t>Simple backend for managing student room booking and payments</a:t>
            </a:r>
          </a:p>
          <a:p>
            <a:pPr algn="just" marL="820422" indent="-410211" lvl="1">
              <a:lnSpc>
                <a:spcPts val="5700"/>
              </a:lnSpc>
              <a:buFont typeface="Arial"/>
              <a:buChar char="•"/>
            </a:pPr>
            <a:r>
              <a:rPr lang="en-US" sz="3800">
                <a:solidFill>
                  <a:srgbClr val="666666"/>
                </a:solidFill>
                <a:latin typeface="Calibri (MS)"/>
                <a:ea typeface="Calibri (MS)"/>
                <a:cs typeface="Calibri (MS)"/>
                <a:sym typeface="Calibri (MS)"/>
              </a:rPr>
              <a:t>Designed for university hostels to organize: </a:t>
            </a:r>
            <a:r>
              <a:rPr lang="en-US" b="true" sz="3800">
                <a:solidFill>
                  <a:srgbClr val="666666"/>
                </a:solidFill>
                <a:latin typeface="Calibri (MS) Bold"/>
                <a:ea typeface="Calibri (MS) Bold"/>
                <a:cs typeface="Calibri (MS) Bold"/>
                <a:sym typeface="Calibri (MS) Bold"/>
              </a:rPr>
              <a:t>applications, assignments</a:t>
            </a:r>
            <a:r>
              <a:rPr lang="en-US" sz="3800">
                <a:solidFill>
                  <a:srgbClr val="666666"/>
                </a:solidFill>
                <a:latin typeface="Calibri (MS)"/>
                <a:ea typeface="Calibri (MS)"/>
                <a:cs typeface="Calibri (MS)"/>
                <a:sym typeface="Calibri (MS)"/>
              </a:rPr>
              <a:t> and </a:t>
            </a:r>
            <a:r>
              <a:rPr lang="en-US" b="true" sz="3800">
                <a:solidFill>
                  <a:srgbClr val="666666"/>
                </a:solidFill>
                <a:latin typeface="Calibri (MS) Bold"/>
                <a:ea typeface="Calibri (MS) Bold"/>
                <a:cs typeface="Calibri (MS) Bold"/>
                <a:sym typeface="Calibri (MS) Bold"/>
              </a:rPr>
              <a:t>payments</a:t>
            </a:r>
          </a:p>
          <a:p>
            <a:pPr algn="just">
              <a:lnSpc>
                <a:spcPts val="5700"/>
              </a:lnSpc>
            </a:pPr>
          </a:p>
        </p:txBody>
      </p:sp>
      <p:grpSp>
        <p:nvGrpSpPr>
          <p:cNvPr name="Group 11" id="11"/>
          <p:cNvGrpSpPr>
            <a:grpSpLocks noChangeAspect="true"/>
          </p:cNvGrpSpPr>
          <p:nvPr/>
        </p:nvGrpSpPr>
        <p:grpSpPr>
          <a:xfrm rot="0">
            <a:off x="7671027" y="9891408"/>
            <a:ext cx="2926896" cy="220267"/>
            <a:chOff x="0" y="0"/>
            <a:chExt cx="3902528" cy="293690"/>
          </a:xfrm>
        </p:grpSpPr>
        <p:sp>
          <p:nvSpPr>
            <p:cNvPr name="Freeform 12" id="12"/>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7"/>
              <a:stretch>
                <a:fillRect l="0" t="0" r="1" b="20"/>
              </a:stretch>
            </a:blipFill>
          </p:spPr>
        </p:sp>
      </p:grpSp>
      <p:grpSp>
        <p:nvGrpSpPr>
          <p:cNvPr name="Group 13" id="13"/>
          <p:cNvGrpSpPr/>
          <p:nvPr/>
        </p:nvGrpSpPr>
        <p:grpSpPr>
          <a:xfrm rot="0">
            <a:off x="1628863" y="1240190"/>
            <a:ext cx="14873286" cy="1281120"/>
            <a:chOff x="0" y="0"/>
            <a:chExt cx="19831048" cy="1708160"/>
          </a:xfrm>
        </p:grpSpPr>
        <p:sp>
          <p:nvSpPr>
            <p:cNvPr name="Freeform 14" id="14"/>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5" id="15"/>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Introduction of the System</a:t>
              </a:r>
            </a:p>
          </p:txBody>
        </p:sp>
      </p:grpSp>
      <p:sp>
        <p:nvSpPr>
          <p:cNvPr name="Freeform 16" id="16"/>
          <p:cNvSpPr/>
          <p:nvPr/>
        </p:nvSpPr>
        <p:spPr>
          <a:xfrm flipH="false" flipV="false" rot="0">
            <a:off x="12745827" y="3740536"/>
            <a:ext cx="2317946" cy="2805929"/>
          </a:xfrm>
          <a:custGeom>
            <a:avLst/>
            <a:gdLst/>
            <a:ahLst/>
            <a:cxnLst/>
            <a:rect r="r" b="b" t="t" l="l"/>
            <a:pathLst>
              <a:path h="2805929" w="2317946">
                <a:moveTo>
                  <a:pt x="0" y="0"/>
                </a:moveTo>
                <a:lnTo>
                  <a:pt x="2317946" y="0"/>
                </a:lnTo>
                <a:lnTo>
                  <a:pt x="2317946" y="2805928"/>
                </a:lnTo>
                <a:lnTo>
                  <a:pt x="0" y="28059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6" y="1905"/>
            <a:ext cx="18110720" cy="4663784"/>
            <a:chOff x="0" y="0"/>
            <a:chExt cx="24147626" cy="6218378"/>
          </a:xfrm>
        </p:grpSpPr>
        <p:sp>
          <p:nvSpPr>
            <p:cNvPr name="Freeform 3" id="3"/>
            <p:cNvSpPr/>
            <p:nvPr/>
          </p:nvSpPr>
          <p:spPr>
            <a:xfrm flipH="false" flipV="true" rot="0">
              <a:off x="0" y="0"/>
              <a:ext cx="24147653" cy="6218428"/>
            </a:xfrm>
            <a:custGeom>
              <a:avLst/>
              <a:gdLst/>
              <a:ahLst/>
              <a:cxnLst/>
              <a:rect r="r" b="b" t="t" l="l"/>
              <a:pathLst>
                <a:path h="6218428" w="24147653">
                  <a:moveTo>
                    <a:pt x="0" y="6218428"/>
                  </a:moveTo>
                  <a:lnTo>
                    <a:pt x="24147653" y="6218428"/>
                  </a:lnTo>
                  <a:lnTo>
                    <a:pt x="24147653" y="0"/>
                  </a:lnTo>
                  <a:lnTo>
                    <a:pt x="0" y="0"/>
                  </a:lnTo>
                  <a:lnTo>
                    <a:pt x="0" y="6218428"/>
                  </a:lnTo>
                  <a:close/>
                </a:path>
              </a:pathLst>
            </a:custGeom>
            <a:blipFill>
              <a:blip r:embed="rId3">
                <a:alphaModFix amt="99000"/>
              </a:blip>
              <a:stretch>
                <a:fillRect l="0" t="0" r="0" b="0"/>
              </a:stretch>
            </a:blipFill>
          </p:spPr>
        </p:sp>
      </p:grpSp>
      <p:sp>
        <p:nvSpPr>
          <p:cNvPr name="Freeform 4" id="4"/>
          <p:cNvSpPr/>
          <p:nvPr/>
        </p:nvSpPr>
        <p:spPr>
          <a:xfrm flipH="false" flipV="false" rot="0">
            <a:off x="0" y="9658348"/>
            <a:ext cx="6638175" cy="628650"/>
          </a:xfrm>
          <a:custGeom>
            <a:avLst/>
            <a:gdLst/>
            <a:ahLst/>
            <a:cxnLst/>
            <a:rect r="r" b="b" t="t" l="l"/>
            <a:pathLst>
              <a:path h="628650" w="6638175">
                <a:moveTo>
                  <a:pt x="0" y="0"/>
                </a:moveTo>
                <a:lnTo>
                  <a:pt x="6638175" y="0"/>
                </a:lnTo>
                <a:lnTo>
                  <a:pt x="6638175" y="628650"/>
                </a:lnTo>
                <a:lnTo>
                  <a:pt x="0" y="628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a:grpSpLocks noChangeAspect="true"/>
          </p:cNvGrpSpPr>
          <p:nvPr/>
        </p:nvGrpSpPr>
        <p:grpSpPr>
          <a:xfrm rot="0">
            <a:off x="15718317" y="425385"/>
            <a:ext cx="2202251" cy="746192"/>
            <a:chOff x="0" y="0"/>
            <a:chExt cx="2936334" cy="994922"/>
          </a:xfrm>
        </p:grpSpPr>
        <p:sp>
          <p:nvSpPr>
            <p:cNvPr name="Freeform 6" id="6"/>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6"/>
              <a:stretch>
                <a:fillRect l="0" t="0" r="1" b="0"/>
              </a:stretch>
            </a:blipFill>
          </p:spPr>
        </p:sp>
      </p:grpSp>
      <p:sp>
        <p:nvSpPr>
          <p:cNvPr name="Freeform 7" id="7"/>
          <p:cNvSpPr/>
          <p:nvPr/>
        </p:nvSpPr>
        <p:spPr>
          <a:xfrm flipH="false" flipV="false" rot="0">
            <a:off x="0" y="0"/>
            <a:ext cx="3202521" cy="586362"/>
          </a:xfrm>
          <a:custGeom>
            <a:avLst/>
            <a:gdLst/>
            <a:ahLst/>
            <a:cxnLst/>
            <a:rect r="r" b="b" t="t" l="l"/>
            <a:pathLst>
              <a:path h="586362" w="3202521">
                <a:moveTo>
                  <a:pt x="0" y="0"/>
                </a:moveTo>
                <a:lnTo>
                  <a:pt x="3202521" y="0"/>
                </a:lnTo>
                <a:lnTo>
                  <a:pt x="3202521" y="586362"/>
                </a:lnTo>
                <a:lnTo>
                  <a:pt x="0" y="5863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17895582" y="7350098"/>
            <a:ext cx="392418" cy="2184427"/>
            <a:chOff x="0" y="0"/>
            <a:chExt cx="523224" cy="2912570"/>
          </a:xfrm>
        </p:grpSpPr>
        <p:sp>
          <p:nvSpPr>
            <p:cNvPr name="Freeform 9" id="9"/>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TextBox 10" id="10"/>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1" id="11"/>
          <p:cNvSpPr txBox="true"/>
          <p:nvPr/>
        </p:nvSpPr>
        <p:spPr>
          <a:xfrm rot="0">
            <a:off x="2568473" y="2996148"/>
            <a:ext cx="13151055" cy="3608070"/>
          </a:xfrm>
          <a:prstGeom prst="rect">
            <a:avLst/>
          </a:prstGeom>
        </p:spPr>
        <p:txBody>
          <a:bodyPr anchor="t" rtlCol="false" tIns="0" lIns="0" bIns="0" rIns="0">
            <a:spAutoFit/>
          </a:bodyPr>
          <a:lstStyle/>
          <a:p>
            <a:pPr algn="just" marL="820419" indent="-410209" lvl="1">
              <a:lnSpc>
                <a:spcPts val="5699"/>
              </a:lnSpc>
              <a:buAutoNum type="arabicPeriod" startAt="1"/>
            </a:pPr>
            <a:r>
              <a:rPr lang="en-US" sz="3799">
                <a:solidFill>
                  <a:srgbClr val="666666"/>
                </a:solidFill>
                <a:latin typeface="Calibri (MS)"/>
                <a:ea typeface="Calibri (MS)"/>
                <a:cs typeface="Calibri (MS)"/>
                <a:sym typeface="Calibri (MS)"/>
              </a:rPr>
              <a:t>Manage student, room and reservation information efficiently</a:t>
            </a:r>
          </a:p>
          <a:p>
            <a:pPr algn="just" marL="820419" indent="-410209" lvl="1">
              <a:lnSpc>
                <a:spcPts val="5699"/>
              </a:lnSpc>
              <a:buAutoNum type="arabicPeriod" startAt="1"/>
            </a:pPr>
            <a:r>
              <a:rPr lang="en-US" sz="3799">
                <a:solidFill>
                  <a:srgbClr val="666666"/>
                </a:solidFill>
                <a:latin typeface="Calibri (MS)"/>
                <a:ea typeface="Calibri (MS)"/>
                <a:cs typeface="Calibri (MS)"/>
                <a:sym typeface="Calibri (MS)"/>
              </a:rPr>
              <a:t>Provide accurate room availability and booking records</a:t>
            </a:r>
          </a:p>
          <a:p>
            <a:pPr algn="just" marL="820419" indent="-410209" lvl="1">
              <a:lnSpc>
                <a:spcPts val="5699"/>
              </a:lnSpc>
              <a:buAutoNum type="arabicPeriod" startAt="1"/>
            </a:pPr>
            <a:r>
              <a:rPr lang="en-US" sz="3799">
                <a:solidFill>
                  <a:srgbClr val="666666"/>
                </a:solidFill>
                <a:latin typeface="Calibri (MS)"/>
                <a:ea typeface="Calibri (MS)"/>
                <a:cs typeface="Calibri (MS)"/>
                <a:sym typeface="Calibri (MS)"/>
              </a:rPr>
              <a:t>Reduce manual errors </a:t>
            </a:r>
          </a:p>
          <a:p>
            <a:pPr algn="just" marL="820419" indent="-410209" lvl="1">
              <a:lnSpc>
                <a:spcPts val="5699"/>
              </a:lnSpc>
              <a:buAutoNum type="arabicPeriod" startAt="1"/>
            </a:pPr>
            <a:r>
              <a:rPr lang="en-US" sz="3799">
                <a:solidFill>
                  <a:srgbClr val="666666"/>
                </a:solidFill>
                <a:latin typeface="Calibri (MS)"/>
                <a:ea typeface="Calibri (MS)"/>
                <a:cs typeface="Calibri (MS)"/>
                <a:sym typeface="Calibri (MS)"/>
              </a:rPr>
              <a:t>Allow easy retrieval of data </a:t>
            </a:r>
          </a:p>
          <a:p>
            <a:pPr algn="just" marL="820419" indent="-410209" lvl="1">
              <a:lnSpc>
                <a:spcPts val="5699"/>
              </a:lnSpc>
              <a:buAutoNum type="arabicPeriod" startAt="1"/>
            </a:pPr>
            <a:r>
              <a:rPr lang="en-US" sz="3799">
                <a:solidFill>
                  <a:srgbClr val="666666"/>
                </a:solidFill>
                <a:latin typeface="Calibri (MS)"/>
                <a:ea typeface="Calibri (MS)"/>
                <a:cs typeface="Calibri (MS)"/>
                <a:sym typeface="Calibri (MS)"/>
              </a:rPr>
              <a:t>Support backend operations used by student and staff</a:t>
            </a:r>
          </a:p>
        </p:txBody>
      </p:sp>
      <p:grpSp>
        <p:nvGrpSpPr>
          <p:cNvPr name="Group 12" id="12"/>
          <p:cNvGrpSpPr>
            <a:grpSpLocks noChangeAspect="true"/>
          </p:cNvGrpSpPr>
          <p:nvPr/>
        </p:nvGrpSpPr>
        <p:grpSpPr>
          <a:xfrm rot="0">
            <a:off x="7671027" y="9891408"/>
            <a:ext cx="2926896" cy="220267"/>
            <a:chOff x="0" y="0"/>
            <a:chExt cx="3902528" cy="293690"/>
          </a:xfrm>
        </p:grpSpPr>
        <p:sp>
          <p:nvSpPr>
            <p:cNvPr name="Freeform 13" id="13"/>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9"/>
              <a:stretch>
                <a:fillRect l="0" t="0" r="1" b="20"/>
              </a:stretch>
            </a:blipFill>
          </p:spPr>
        </p:sp>
      </p:grpSp>
      <p:grpSp>
        <p:nvGrpSpPr>
          <p:cNvPr name="Group 14" id="14"/>
          <p:cNvGrpSpPr/>
          <p:nvPr/>
        </p:nvGrpSpPr>
        <p:grpSpPr>
          <a:xfrm rot="0">
            <a:off x="1628863" y="1352411"/>
            <a:ext cx="14873286" cy="1281120"/>
            <a:chOff x="0" y="0"/>
            <a:chExt cx="19831048" cy="1708160"/>
          </a:xfrm>
        </p:grpSpPr>
        <p:sp>
          <p:nvSpPr>
            <p:cNvPr name="Freeform 15" id="15"/>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6" id="16"/>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Objectives of the System</a:t>
              </a:r>
            </a:p>
          </p:txBody>
        </p:sp>
      </p:grpSp>
      <p:sp>
        <p:nvSpPr>
          <p:cNvPr name="Freeform 17" id="17"/>
          <p:cNvSpPr/>
          <p:nvPr/>
        </p:nvSpPr>
        <p:spPr>
          <a:xfrm flipH="false" flipV="false" rot="0">
            <a:off x="14707888" y="7350098"/>
            <a:ext cx="1322014" cy="1092214"/>
          </a:xfrm>
          <a:custGeom>
            <a:avLst/>
            <a:gdLst/>
            <a:ahLst/>
            <a:cxnLst/>
            <a:rect r="r" b="b" t="t" l="l"/>
            <a:pathLst>
              <a:path h="1092214" w="1322014">
                <a:moveTo>
                  <a:pt x="0" y="0"/>
                </a:moveTo>
                <a:lnTo>
                  <a:pt x="1322013" y="0"/>
                </a:lnTo>
                <a:lnTo>
                  <a:pt x="1322013" y="1092213"/>
                </a:lnTo>
                <a:lnTo>
                  <a:pt x="0" y="10922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345150" cy="10287002"/>
            <a:chOff x="0" y="0"/>
            <a:chExt cx="24460200" cy="13716002"/>
          </a:xfrm>
        </p:grpSpPr>
        <p:sp>
          <p:nvSpPr>
            <p:cNvPr name="Freeform 3" id="3"/>
            <p:cNvSpPr/>
            <p:nvPr/>
          </p:nvSpPr>
          <p:spPr>
            <a:xfrm flipH="false" flipV="false" rot="0">
              <a:off x="0" y="0"/>
              <a:ext cx="24460200" cy="13716000"/>
            </a:xfrm>
            <a:custGeom>
              <a:avLst/>
              <a:gdLst/>
              <a:ahLst/>
              <a:cxnLst/>
              <a:rect r="r" b="b" t="t" l="l"/>
              <a:pathLst>
                <a:path h="13716000" w="24460200">
                  <a:moveTo>
                    <a:pt x="0" y="0"/>
                  </a:moveTo>
                  <a:lnTo>
                    <a:pt x="24460200" y="0"/>
                  </a:lnTo>
                  <a:lnTo>
                    <a:pt x="24460200" y="13716000"/>
                  </a:lnTo>
                  <a:lnTo>
                    <a:pt x="0" y="13716000"/>
                  </a:lnTo>
                  <a:close/>
                </a:path>
              </a:pathLst>
            </a:custGeom>
            <a:solidFill>
              <a:srgbClr val="6C1D35"/>
            </a:solidFill>
          </p:spPr>
        </p:sp>
      </p:grpSp>
      <p:grpSp>
        <p:nvGrpSpPr>
          <p:cNvPr name="Group 4" id="4"/>
          <p:cNvGrpSpPr>
            <a:grpSpLocks noChangeAspect="true"/>
          </p:cNvGrpSpPr>
          <p:nvPr/>
        </p:nvGrpSpPr>
        <p:grpSpPr>
          <a:xfrm rot="-5400000">
            <a:off x="4029075" y="-4029075"/>
            <a:ext cx="10287000" cy="18345150"/>
            <a:chOff x="0" y="0"/>
            <a:chExt cx="13716000" cy="24460200"/>
          </a:xfrm>
        </p:grpSpPr>
        <p:sp>
          <p:nvSpPr>
            <p:cNvPr name="Freeform 5" id="5"/>
            <p:cNvSpPr/>
            <p:nvPr/>
          </p:nvSpPr>
          <p:spPr>
            <a:xfrm flipH="false" flipV="false" rot="0">
              <a:off x="0" y="0"/>
              <a:ext cx="13716000" cy="24460200"/>
            </a:xfrm>
            <a:custGeom>
              <a:avLst/>
              <a:gdLst/>
              <a:ahLst/>
              <a:cxnLst/>
              <a:rect r="r" b="b" t="t" l="l"/>
              <a:pathLst>
                <a:path h="24460200" w="13716000">
                  <a:moveTo>
                    <a:pt x="0" y="0"/>
                  </a:moveTo>
                  <a:lnTo>
                    <a:pt x="13716000" y="0"/>
                  </a:lnTo>
                  <a:lnTo>
                    <a:pt x="13716000" y="24460200"/>
                  </a:lnTo>
                  <a:lnTo>
                    <a:pt x="0" y="24460200"/>
                  </a:lnTo>
                  <a:lnTo>
                    <a:pt x="0" y="0"/>
                  </a:lnTo>
                  <a:close/>
                </a:path>
              </a:pathLst>
            </a:custGeom>
            <a:blipFill>
              <a:blip r:embed="rId3">
                <a:alphaModFix amt="32000"/>
              </a:blip>
              <a:stretch>
                <a:fillRect l="-26019" t="0" r="0" b="0"/>
              </a:stretch>
            </a:blipFill>
          </p:spPr>
        </p:sp>
      </p:grpSp>
      <p:grpSp>
        <p:nvGrpSpPr>
          <p:cNvPr name="Group 6" id="6"/>
          <p:cNvGrpSpPr/>
          <p:nvPr/>
        </p:nvGrpSpPr>
        <p:grpSpPr>
          <a:xfrm rot="0">
            <a:off x="5469702" y="4381753"/>
            <a:ext cx="7060407" cy="1815294"/>
            <a:chOff x="0" y="0"/>
            <a:chExt cx="9413876" cy="2420392"/>
          </a:xfrm>
        </p:grpSpPr>
        <p:sp>
          <p:nvSpPr>
            <p:cNvPr name="Freeform 7" id="7"/>
            <p:cNvSpPr/>
            <p:nvPr/>
          </p:nvSpPr>
          <p:spPr>
            <a:xfrm flipH="false" flipV="false" rot="0">
              <a:off x="0" y="0"/>
              <a:ext cx="9413876" cy="2420392"/>
            </a:xfrm>
            <a:custGeom>
              <a:avLst/>
              <a:gdLst/>
              <a:ahLst/>
              <a:cxnLst/>
              <a:rect r="r" b="b" t="t" l="l"/>
              <a:pathLst>
                <a:path h="2420392" w="9413876">
                  <a:moveTo>
                    <a:pt x="0" y="0"/>
                  </a:moveTo>
                  <a:lnTo>
                    <a:pt x="9413876" y="0"/>
                  </a:lnTo>
                  <a:lnTo>
                    <a:pt x="9413876" y="2420392"/>
                  </a:lnTo>
                  <a:lnTo>
                    <a:pt x="0" y="2420392"/>
                  </a:lnTo>
                  <a:close/>
                </a:path>
              </a:pathLst>
            </a:custGeom>
          </p:spPr>
        </p:sp>
        <p:sp>
          <p:nvSpPr>
            <p:cNvPr name="TextBox 8" id="8"/>
            <p:cNvSpPr txBox="true"/>
            <p:nvPr/>
          </p:nvSpPr>
          <p:spPr>
            <a:xfrm>
              <a:off x="0" y="-190500"/>
              <a:ext cx="9413876" cy="2610892"/>
            </a:xfrm>
            <a:prstGeom prst="rect">
              <a:avLst/>
            </a:prstGeom>
          </p:spPr>
          <p:txBody>
            <a:bodyPr anchor="ctr" rtlCol="false" tIns="0" lIns="0" bIns="0" rIns="0"/>
            <a:lstStyle/>
            <a:p>
              <a:pPr algn="ctr">
                <a:lnSpc>
                  <a:spcPts val="10800"/>
                </a:lnSpc>
              </a:pPr>
              <a:r>
                <a:rPr lang="en-US" sz="9000" b="true">
                  <a:solidFill>
                    <a:srgbClr val="FFFFFF"/>
                  </a:solidFill>
                  <a:latin typeface="Calibri (MS) Bold"/>
                  <a:ea typeface="Calibri (MS) Bold"/>
                  <a:cs typeface="Calibri (MS) Bold"/>
                  <a:sym typeface="Calibri (MS) Bold"/>
                </a:rPr>
                <a:t>DDL</a:t>
              </a:r>
            </a:p>
          </p:txBody>
        </p:sp>
      </p:grpSp>
      <p:sp>
        <p:nvSpPr>
          <p:cNvPr name="Freeform 9" id="9"/>
          <p:cNvSpPr/>
          <p:nvPr/>
        </p:nvSpPr>
        <p:spPr>
          <a:xfrm flipH="false" flipV="false" rot="0">
            <a:off x="5049360" y="6100652"/>
            <a:ext cx="420342" cy="422937"/>
          </a:xfrm>
          <a:custGeom>
            <a:avLst/>
            <a:gdLst/>
            <a:ahLst/>
            <a:cxnLst/>
            <a:rect r="r" b="b" t="t" l="l"/>
            <a:pathLst>
              <a:path h="422937" w="420342">
                <a:moveTo>
                  <a:pt x="0" y="0"/>
                </a:moveTo>
                <a:lnTo>
                  <a:pt x="420342" y="0"/>
                </a:lnTo>
                <a:lnTo>
                  <a:pt x="420342" y="422936"/>
                </a:lnTo>
                <a:lnTo>
                  <a:pt x="0" y="422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1296716" y="6115600"/>
            <a:ext cx="419694" cy="422937"/>
          </a:xfrm>
          <a:custGeom>
            <a:avLst/>
            <a:gdLst/>
            <a:ahLst/>
            <a:cxnLst/>
            <a:rect r="r" b="b" t="t" l="l"/>
            <a:pathLst>
              <a:path h="422937" w="419694">
                <a:moveTo>
                  <a:pt x="0" y="0"/>
                </a:moveTo>
                <a:lnTo>
                  <a:pt x="419694" y="0"/>
                </a:lnTo>
                <a:lnTo>
                  <a:pt x="419694" y="422937"/>
                </a:lnTo>
                <a:lnTo>
                  <a:pt x="0" y="422937"/>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3"/>
              <a:stretch>
                <a:fillRect l="0" t="0" r="0" b="0"/>
              </a:stretch>
            </a:blipFill>
          </p:spPr>
        </p:sp>
      </p:grpSp>
      <p:grpSp>
        <p:nvGrpSpPr>
          <p:cNvPr name="Group 4" id="4"/>
          <p:cNvGrpSpPr/>
          <p:nvPr/>
        </p:nvGrpSpPr>
        <p:grpSpPr>
          <a:xfrm rot="0">
            <a:off x="5841632" y="32146"/>
            <a:ext cx="6690252" cy="384760"/>
            <a:chOff x="0" y="0"/>
            <a:chExt cx="8920336" cy="513014"/>
          </a:xfrm>
        </p:grpSpPr>
        <p:sp>
          <p:nvSpPr>
            <p:cNvPr name="Freeform 5" id="5"/>
            <p:cNvSpPr/>
            <p:nvPr/>
          </p:nvSpPr>
          <p:spPr>
            <a:xfrm flipH="false" flipV="false" rot="0">
              <a:off x="0" y="0"/>
              <a:ext cx="8920353" cy="512953"/>
            </a:xfrm>
            <a:custGeom>
              <a:avLst/>
              <a:gdLst/>
              <a:ahLst/>
              <a:cxnLst/>
              <a:rect r="r" b="b" t="t" l="l"/>
              <a:pathLst>
                <a:path h="512953" w="8920353">
                  <a:moveTo>
                    <a:pt x="0" y="0"/>
                  </a:moveTo>
                  <a:lnTo>
                    <a:pt x="8920353" y="0"/>
                  </a:lnTo>
                  <a:lnTo>
                    <a:pt x="8920353" y="512953"/>
                  </a:lnTo>
                  <a:lnTo>
                    <a:pt x="0" y="512953"/>
                  </a:lnTo>
                  <a:close/>
                </a:path>
              </a:pathLst>
            </a:custGeom>
            <a:solidFill>
              <a:srgbClr val="6C1D35"/>
            </a:solidFill>
          </p:spPr>
        </p:sp>
      </p:grpSp>
      <p:grpSp>
        <p:nvGrpSpPr>
          <p:cNvPr name="Group 6" id="6"/>
          <p:cNvGrpSpPr>
            <a:grpSpLocks noChangeAspect="true"/>
          </p:cNvGrpSpPr>
          <p:nvPr/>
        </p:nvGrpSpPr>
        <p:grpSpPr>
          <a:xfrm rot="0">
            <a:off x="15718317" y="425385"/>
            <a:ext cx="2202251" cy="746192"/>
            <a:chOff x="0" y="0"/>
            <a:chExt cx="2936334" cy="994922"/>
          </a:xfrm>
        </p:grpSpPr>
        <p:sp>
          <p:nvSpPr>
            <p:cNvPr name="Freeform 7" id="7"/>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4"/>
              <a:stretch>
                <a:fillRect l="0" t="0" r="1" b="0"/>
              </a:stretch>
            </a:blipFill>
          </p:spPr>
        </p:sp>
      </p:grpSp>
      <p:grpSp>
        <p:nvGrpSpPr>
          <p:cNvPr name="Group 8" id="8"/>
          <p:cNvGrpSpPr/>
          <p:nvPr/>
        </p:nvGrpSpPr>
        <p:grpSpPr>
          <a:xfrm rot="0">
            <a:off x="-19050" y="10212993"/>
            <a:ext cx="18373520" cy="163459"/>
            <a:chOff x="0" y="0"/>
            <a:chExt cx="24498026" cy="217946"/>
          </a:xfrm>
        </p:grpSpPr>
        <p:sp>
          <p:nvSpPr>
            <p:cNvPr name="Freeform 9" id="9"/>
            <p:cNvSpPr/>
            <p:nvPr/>
          </p:nvSpPr>
          <p:spPr>
            <a:xfrm flipH="false" flipV="false" rot="0">
              <a:off x="0" y="0"/>
              <a:ext cx="24498046" cy="217932"/>
            </a:xfrm>
            <a:custGeom>
              <a:avLst/>
              <a:gdLst/>
              <a:ahLst/>
              <a:cxnLst/>
              <a:rect r="r" b="b" t="t" l="l"/>
              <a:pathLst>
                <a:path h="217932" w="24498046">
                  <a:moveTo>
                    <a:pt x="0" y="0"/>
                  </a:moveTo>
                  <a:lnTo>
                    <a:pt x="24498046" y="0"/>
                  </a:lnTo>
                  <a:lnTo>
                    <a:pt x="24498046" y="217932"/>
                  </a:lnTo>
                  <a:lnTo>
                    <a:pt x="0" y="217932"/>
                  </a:lnTo>
                  <a:close/>
                </a:path>
              </a:pathLst>
            </a:custGeom>
            <a:solidFill>
              <a:srgbClr val="D9D9D9"/>
            </a:solidFill>
          </p:spPr>
        </p:sp>
      </p:grpSp>
      <p:grpSp>
        <p:nvGrpSpPr>
          <p:cNvPr name="Group 10" id="10"/>
          <p:cNvGrpSpPr/>
          <p:nvPr/>
        </p:nvGrpSpPr>
        <p:grpSpPr>
          <a:xfrm rot="0">
            <a:off x="17895582" y="7350098"/>
            <a:ext cx="392418" cy="2184427"/>
            <a:chOff x="0" y="0"/>
            <a:chExt cx="523224" cy="2912570"/>
          </a:xfrm>
        </p:grpSpPr>
        <p:sp>
          <p:nvSpPr>
            <p:cNvPr name="Freeform 11" id="11"/>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AutoShape 12" id="12"/>
          <p:cNvSpPr/>
          <p:nvPr/>
        </p:nvSpPr>
        <p:spPr>
          <a:xfrm>
            <a:off x="10767455" y="2899867"/>
            <a:ext cx="9525" cy="6396605"/>
          </a:xfrm>
          <a:prstGeom prst="line">
            <a:avLst/>
          </a:prstGeom>
          <a:ln cap="rnd" w="9525">
            <a:solidFill>
              <a:srgbClr val="FFFFFF"/>
            </a:solidFill>
            <a:prstDash val="solid"/>
            <a:headEnd type="none" len="sm" w="sm"/>
            <a:tailEnd type="none" len="sm" w="sm"/>
          </a:ln>
        </p:spPr>
      </p:sp>
      <p:grpSp>
        <p:nvGrpSpPr>
          <p:cNvPr name="Group 13" id="13"/>
          <p:cNvGrpSpPr>
            <a:grpSpLocks noChangeAspect="true"/>
          </p:cNvGrpSpPr>
          <p:nvPr/>
        </p:nvGrpSpPr>
        <p:grpSpPr>
          <a:xfrm rot="0">
            <a:off x="7671027" y="9891408"/>
            <a:ext cx="2926896" cy="220267"/>
            <a:chOff x="0" y="0"/>
            <a:chExt cx="3902528" cy="293690"/>
          </a:xfrm>
        </p:grpSpPr>
        <p:sp>
          <p:nvSpPr>
            <p:cNvPr name="Freeform 14" id="14"/>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5"/>
              <a:stretch>
                <a:fillRect l="0" t="0" r="1" b="20"/>
              </a:stretch>
            </a:blipFill>
          </p:spPr>
        </p:sp>
      </p:grpSp>
      <p:grpSp>
        <p:nvGrpSpPr>
          <p:cNvPr name="Group 15" id="15"/>
          <p:cNvGrpSpPr/>
          <p:nvPr/>
        </p:nvGrpSpPr>
        <p:grpSpPr>
          <a:xfrm rot="0">
            <a:off x="1750114" y="1323846"/>
            <a:ext cx="14873286" cy="1281120"/>
            <a:chOff x="0" y="0"/>
            <a:chExt cx="19831048" cy="1708160"/>
          </a:xfrm>
        </p:grpSpPr>
        <p:sp>
          <p:nvSpPr>
            <p:cNvPr name="Freeform 16" id="16"/>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7" id="17"/>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Database Structure</a:t>
              </a:r>
            </a:p>
          </p:txBody>
        </p:sp>
      </p:grpSp>
      <p:sp>
        <p:nvSpPr>
          <p:cNvPr name="Freeform 18" id="18"/>
          <p:cNvSpPr/>
          <p:nvPr/>
        </p:nvSpPr>
        <p:spPr>
          <a:xfrm flipH="false" flipV="false" rot="0">
            <a:off x="1421033" y="3461091"/>
            <a:ext cx="9721202" cy="3965422"/>
          </a:xfrm>
          <a:custGeom>
            <a:avLst/>
            <a:gdLst/>
            <a:ahLst/>
            <a:cxnLst/>
            <a:rect r="r" b="b" t="t" l="l"/>
            <a:pathLst>
              <a:path h="3965422" w="9721202">
                <a:moveTo>
                  <a:pt x="0" y="0"/>
                </a:moveTo>
                <a:lnTo>
                  <a:pt x="9721202" y="0"/>
                </a:lnTo>
                <a:lnTo>
                  <a:pt x="9721202" y="3965421"/>
                </a:lnTo>
                <a:lnTo>
                  <a:pt x="0" y="3965421"/>
                </a:lnTo>
                <a:lnTo>
                  <a:pt x="0" y="0"/>
                </a:lnTo>
                <a:close/>
              </a:path>
            </a:pathLst>
          </a:custGeom>
          <a:blipFill>
            <a:blip r:embed="rId6"/>
            <a:stretch>
              <a:fillRect l="0" t="0" r="0" b="0"/>
            </a:stretch>
          </a:blipFill>
        </p:spPr>
      </p:sp>
      <p:sp>
        <p:nvSpPr>
          <p:cNvPr name="TextBox 19" id="19"/>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20" id="20"/>
          <p:cNvSpPr txBox="true"/>
          <p:nvPr/>
        </p:nvSpPr>
        <p:spPr>
          <a:xfrm rot="0">
            <a:off x="11419917" y="2940632"/>
            <a:ext cx="5839383" cy="4834890"/>
          </a:xfrm>
          <a:prstGeom prst="rect">
            <a:avLst/>
          </a:prstGeom>
        </p:spPr>
        <p:txBody>
          <a:bodyPr anchor="t" rtlCol="false" tIns="0" lIns="0" bIns="0" rIns="0">
            <a:spAutoFit/>
          </a:bodyPr>
          <a:lstStyle/>
          <a:p>
            <a:pPr algn="just" marL="777240" indent="-388620" lvl="1">
              <a:lnSpc>
                <a:spcPts val="5400"/>
              </a:lnSpc>
              <a:buFont typeface="Arial"/>
              <a:buChar char="•"/>
            </a:pPr>
            <a:r>
              <a:rPr lang="en-US" sz="3600">
                <a:solidFill>
                  <a:srgbClr val="000000"/>
                </a:solidFill>
                <a:latin typeface="Calibri (MS)"/>
                <a:ea typeface="Calibri (MS)"/>
                <a:cs typeface="Calibri (MS)"/>
                <a:sym typeface="Calibri (MS)"/>
              </a:rPr>
              <a:t>Tables created: </a:t>
            </a:r>
            <a:r>
              <a:rPr lang="en-US" sz="3600" i="true">
                <a:solidFill>
                  <a:srgbClr val="000000"/>
                </a:solidFill>
                <a:latin typeface="Calibri (MS) Italics"/>
                <a:ea typeface="Calibri (MS) Italics"/>
                <a:cs typeface="Calibri (MS) Italics"/>
                <a:sym typeface="Calibri (MS) Italics"/>
              </a:rPr>
              <a:t>students</a:t>
            </a:r>
            <a:r>
              <a:rPr lang="en-US" sz="3600">
                <a:solidFill>
                  <a:srgbClr val="000000"/>
                </a:solidFill>
                <a:latin typeface="Calibri (MS)"/>
                <a:ea typeface="Calibri (MS)"/>
                <a:cs typeface="Calibri (MS)"/>
                <a:sym typeface="Calibri (MS)"/>
              </a:rPr>
              <a:t>, </a:t>
            </a:r>
            <a:r>
              <a:rPr lang="en-US" sz="3600" i="true">
                <a:solidFill>
                  <a:srgbClr val="000000"/>
                </a:solidFill>
                <a:latin typeface="Calibri (MS) Italics"/>
                <a:ea typeface="Calibri (MS) Italics"/>
                <a:cs typeface="Calibri (MS) Italics"/>
                <a:sym typeface="Calibri (MS) Italics"/>
              </a:rPr>
              <a:t>room_types</a:t>
            </a:r>
            <a:r>
              <a:rPr lang="en-US" sz="3600">
                <a:solidFill>
                  <a:srgbClr val="000000"/>
                </a:solidFill>
                <a:latin typeface="Calibri (MS)"/>
                <a:ea typeface="Calibri (MS)"/>
                <a:cs typeface="Calibri (MS)"/>
                <a:sym typeface="Calibri (MS)"/>
              </a:rPr>
              <a:t>, </a:t>
            </a:r>
            <a:r>
              <a:rPr lang="en-US" sz="3600" i="true">
                <a:solidFill>
                  <a:srgbClr val="000000"/>
                </a:solidFill>
                <a:latin typeface="Calibri (MS) Italics"/>
                <a:ea typeface="Calibri (MS) Italics"/>
                <a:cs typeface="Calibri (MS) Italics"/>
                <a:sym typeface="Calibri (MS) Italics"/>
              </a:rPr>
              <a:t>room_locations</a:t>
            </a:r>
            <a:r>
              <a:rPr lang="en-US" sz="3600">
                <a:solidFill>
                  <a:srgbClr val="000000"/>
                </a:solidFill>
                <a:latin typeface="Calibri (MS)"/>
                <a:ea typeface="Calibri (MS)"/>
                <a:cs typeface="Calibri (MS)"/>
                <a:sym typeface="Calibri (MS)"/>
              </a:rPr>
              <a:t>, </a:t>
            </a:r>
            <a:r>
              <a:rPr lang="en-US" sz="3600" i="true">
                <a:solidFill>
                  <a:srgbClr val="000000"/>
                </a:solidFill>
                <a:latin typeface="Calibri (MS) Italics"/>
                <a:ea typeface="Calibri (MS) Italics"/>
                <a:cs typeface="Calibri (MS) Italics"/>
                <a:sym typeface="Calibri (MS) Italics"/>
              </a:rPr>
              <a:t>rooms</a:t>
            </a:r>
            <a:r>
              <a:rPr lang="en-US" sz="3600">
                <a:solidFill>
                  <a:srgbClr val="000000"/>
                </a:solidFill>
                <a:latin typeface="Calibri (MS)"/>
                <a:ea typeface="Calibri (MS)"/>
                <a:cs typeface="Calibri (MS)"/>
                <a:sym typeface="Calibri (MS)"/>
              </a:rPr>
              <a:t>, </a:t>
            </a:r>
            <a:r>
              <a:rPr lang="en-US" sz="3600" i="true">
                <a:solidFill>
                  <a:srgbClr val="000000"/>
                </a:solidFill>
                <a:latin typeface="Calibri (MS) Italics"/>
                <a:ea typeface="Calibri (MS) Italics"/>
                <a:cs typeface="Calibri (MS) Italics"/>
                <a:sym typeface="Calibri (MS) Italics"/>
              </a:rPr>
              <a:t>reservations,</a:t>
            </a:r>
            <a:r>
              <a:rPr lang="en-US" sz="3600">
                <a:solidFill>
                  <a:srgbClr val="000000"/>
                </a:solidFill>
                <a:latin typeface="Calibri (MS)"/>
                <a:ea typeface="Calibri (MS)"/>
                <a:cs typeface="Calibri (MS)"/>
                <a:sym typeface="Calibri (MS)"/>
              </a:rPr>
              <a:t> </a:t>
            </a:r>
            <a:r>
              <a:rPr lang="en-US" sz="3600" i="true">
                <a:solidFill>
                  <a:srgbClr val="000000"/>
                </a:solidFill>
                <a:latin typeface="Calibri (MS) Italics"/>
                <a:ea typeface="Calibri (MS) Italics"/>
                <a:cs typeface="Calibri (MS) Italics"/>
                <a:sym typeface="Calibri (MS) Italics"/>
              </a:rPr>
              <a:t>payments</a:t>
            </a:r>
          </a:p>
          <a:p>
            <a:pPr algn="just" marL="777240" indent="-388620" lvl="1">
              <a:lnSpc>
                <a:spcPts val="5400"/>
              </a:lnSpc>
              <a:buFont typeface="Arial"/>
              <a:buChar char="•"/>
            </a:pPr>
            <a:r>
              <a:rPr lang="en-US" sz="3600">
                <a:solidFill>
                  <a:srgbClr val="000000"/>
                </a:solidFill>
                <a:latin typeface="Calibri (MS)"/>
                <a:ea typeface="Calibri (MS)"/>
                <a:cs typeface="Calibri (MS)"/>
                <a:sym typeface="Calibri (MS)"/>
              </a:rPr>
              <a:t>Several constraints are used to ensure data integrity and consistency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6" y="1905"/>
            <a:ext cx="18110720" cy="4663784"/>
            <a:chOff x="0" y="0"/>
            <a:chExt cx="24147626" cy="6218378"/>
          </a:xfrm>
        </p:grpSpPr>
        <p:sp>
          <p:nvSpPr>
            <p:cNvPr name="Freeform 3" id="3"/>
            <p:cNvSpPr/>
            <p:nvPr/>
          </p:nvSpPr>
          <p:spPr>
            <a:xfrm flipH="false" flipV="true" rot="0">
              <a:off x="0" y="0"/>
              <a:ext cx="24147653" cy="6218428"/>
            </a:xfrm>
            <a:custGeom>
              <a:avLst/>
              <a:gdLst/>
              <a:ahLst/>
              <a:cxnLst/>
              <a:rect r="r" b="b" t="t" l="l"/>
              <a:pathLst>
                <a:path h="6218428" w="24147653">
                  <a:moveTo>
                    <a:pt x="0" y="6218428"/>
                  </a:moveTo>
                  <a:lnTo>
                    <a:pt x="24147653" y="6218428"/>
                  </a:lnTo>
                  <a:lnTo>
                    <a:pt x="24147653" y="0"/>
                  </a:lnTo>
                  <a:lnTo>
                    <a:pt x="0" y="0"/>
                  </a:lnTo>
                  <a:lnTo>
                    <a:pt x="0" y="6218428"/>
                  </a:lnTo>
                  <a:close/>
                </a:path>
              </a:pathLst>
            </a:custGeom>
            <a:blipFill>
              <a:blip r:embed="rId3">
                <a:alphaModFix amt="99000"/>
              </a:blip>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4"/>
              <a:stretch>
                <a:fillRect l="0" t="0" r="1" b="0"/>
              </a:stretch>
            </a:blipFill>
          </p:spPr>
        </p:sp>
      </p:grpSp>
      <p:grpSp>
        <p:nvGrpSpPr>
          <p:cNvPr name="Group 6" id="6"/>
          <p:cNvGrpSpPr/>
          <p:nvPr/>
        </p:nvGrpSpPr>
        <p:grpSpPr>
          <a:xfrm rot="0">
            <a:off x="10146" y="513397"/>
            <a:ext cx="15404458" cy="68579"/>
            <a:chOff x="0" y="0"/>
            <a:chExt cx="20539278" cy="91438"/>
          </a:xfrm>
        </p:grpSpPr>
        <p:sp>
          <p:nvSpPr>
            <p:cNvPr name="Freeform 7" id="7"/>
            <p:cNvSpPr/>
            <p:nvPr/>
          </p:nvSpPr>
          <p:spPr>
            <a:xfrm flipH="false" flipV="false" rot="0">
              <a:off x="0" y="0"/>
              <a:ext cx="20539329" cy="91440"/>
            </a:xfrm>
            <a:custGeom>
              <a:avLst/>
              <a:gdLst/>
              <a:ahLst/>
              <a:cxnLst/>
              <a:rect r="r" b="b" t="t" l="l"/>
              <a:pathLst>
                <a:path h="91440" w="20539329">
                  <a:moveTo>
                    <a:pt x="0" y="0"/>
                  </a:moveTo>
                  <a:lnTo>
                    <a:pt x="20539329" y="0"/>
                  </a:lnTo>
                  <a:lnTo>
                    <a:pt x="20539329" y="91440"/>
                  </a:lnTo>
                  <a:lnTo>
                    <a:pt x="0" y="91440"/>
                  </a:lnTo>
                  <a:close/>
                </a:path>
              </a:pathLst>
            </a:custGeom>
            <a:solidFill>
              <a:srgbClr val="6C1D35"/>
            </a:solidFill>
          </p:spPr>
        </p:sp>
      </p:grpSp>
      <p:grpSp>
        <p:nvGrpSpPr>
          <p:cNvPr name="Group 8" id="8"/>
          <p:cNvGrpSpPr/>
          <p:nvPr/>
        </p:nvGrpSpPr>
        <p:grpSpPr>
          <a:xfrm rot="0">
            <a:off x="17895582" y="7350098"/>
            <a:ext cx="392418" cy="2184427"/>
            <a:chOff x="0" y="0"/>
            <a:chExt cx="523224" cy="2912570"/>
          </a:xfrm>
        </p:grpSpPr>
        <p:sp>
          <p:nvSpPr>
            <p:cNvPr name="Freeform 9" id="9"/>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TextBox 10" id="10"/>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grpSp>
        <p:nvGrpSpPr>
          <p:cNvPr name="Group 11" id="11"/>
          <p:cNvGrpSpPr/>
          <p:nvPr/>
        </p:nvGrpSpPr>
        <p:grpSpPr>
          <a:xfrm rot="0">
            <a:off x="2323972" y="2679792"/>
            <a:ext cx="3136978" cy="2494514"/>
            <a:chOff x="0" y="0"/>
            <a:chExt cx="4182637" cy="3326019"/>
          </a:xfrm>
        </p:grpSpPr>
        <p:grpSp>
          <p:nvGrpSpPr>
            <p:cNvPr name="Group 12" id="12"/>
            <p:cNvGrpSpPr/>
            <p:nvPr/>
          </p:nvGrpSpPr>
          <p:grpSpPr>
            <a:xfrm rot="0">
              <a:off x="0" y="0"/>
              <a:ext cx="4182637" cy="3326019"/>
              <a:chOff x="0" y="0"/>
              <a:chExt cx="3208834" cy="2551654"/>
            </a:xfrm>
          </p:grpSpPr>
          <p:sp>
            <p:nvSpPr>
              <p:cNvPr name="Freeform 13" id="13"/>
              <p:cNvSpPr/>
              <p:nvPr/>
            </p:nvSpPr>
            <p:spPr>
              <a:xfrm flipH="false" flipV="false" rot="0">
                <a:off x="0" y="0"/>
                <a:ext cx="3208782" cy="2551626"/>
              </a:xfrm>
              <a:custGeom>
                <a:avLst/>
                <a:gdLst/>
                <a:ahLst/>
                <a:cxnLst/>
                <a:rect r="r" b="b" t="t" l="l"/>
                <a:pathLst>
                  <a:path h="2551626" w="3208782">
                    <a:moveTo>
                      <a:pt x="0" y="425271"/>
                    </a:moveTo>
                    <a:cubicBezTo>
                      <a:pt x="0" y="190392"/>
                      <a:pt x="229362" y="0"/>
                      <a:pt x="512318" y="0"/>
                    </a:cubicBezTo>
                    <a:lnTo>
                      <a:pt x="2696464" y="0"/>
                    </a:lnTo>
                    <a:cubicBezTo>
                      <a:pt x="2979420" y="0"/>
                      <a:pt x="3208782" y="190392"/>
                      <a:pt x="3208782" y="425271"/>
                    </a:cubicBezTo>
                    <a:lnTo>
                      <a:pt x="3208782" y="2126355"/>
                    </a:lnTo>
                    <a:cubicBezTo>
                      <a:pt x="3208782" y="2361234"/>
                      <a:pt x="2979420" y="2551626"/>
                      <a:pt x="2696464" y="2551626"/>
                    </a:cubicBezTo>
                    <a:lnTo>
                      <a:pt x="512318" y="2551626"/>
                    </a:lnTo>
                    <a:cubicBezTo>
                      <a:pt x="229362" y="2551626"/>
                      <a:pt x="0" y="2361234"/>
                      <a:pt x="0" y="2126355"/>
                    </a:cubicBezTo>
                    <a:close/>
                  </a:path>
                </a:pathLst>
              </a:custGeom>
              <a:solidFill>
                <a:srgbClr val="9B2D1F"/>
              </a:solidFill>
            </p:spPr>
          </p:sp>
        </p:grpSp>
        <p:grpSp>
          <p:nvGrpSpPr>
            <p:cNvPr name="Group 14" id="14"/>
            <p:cNvGrpSpPr/>
            <p:nvPr/>
          </p:nvGrpSpPr>
          <p:grpSpPr>
            <a:xfrm rot="0">
              <a:off x="947038" y="158745"/>
              <a:ext cx="2361340" cy="1265766"/>
              <a:chOff x="0" y="0"/>
              <a:chExt cx="1811572" cy="971070"/>
            </a:xfrm>
          </p:grpSpPr>
          <p:sp>
            <p:nvSpPr>
              <p:cNvPr name="Freeform 15" id="15"/>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16" id="16"/>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01</a:t>
                </a:r>
              </a:p>
            </p:txBody>
          </p:sp>
        </p:grpSp>
        <p:sp>
          <p:nvSpPr>
            <p:cNvPr name="TextBox 17" id="17"/>
            <p:cNvSpPr txBox="true"/>
            <p:nvPr/>
          </p:nvSpPr>
          <p:spPr>
            <a:xfrm rot="0">
              <a:off x="437932" y="2299425"/>
              <a:ext cx="3379557" cy="520666"/>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Uniqueness per row</a:t>
              </a:r>
            </a:p>
          </p:txBody>
        </p:sp>
        <p:sp>
          <p:nvSpPr>
            <p:cNvPr name="TextBox 18" id="18"/>
            <p:cNvSpPr txBox="true"/>
            <p:nvPr/>
          </p:nvSpPr>
          <p:spPr>
            <a:xfrm rot="0">
              <a:off x="437929"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PRIMARY KEY</a:t>
              </a:r>
            </a:p>
          </p:txBody>
        </p:sp>
      </p:grpSp>
      <p:grpSp>
        <p:nvGrpSpPr>
          <p:cNvPr name="Group 19" id="19"/>
          <p:cNvGrpSpPr/>
          <p:nvPr/>
        </p:nvGrpSpPr>
        <p:grpSpPr>
          <a:xfrm rot="0">
            <a:off x="7782295" y="2679792"/>
            <a:ext cx="3136978" cy="2842151"/>
            <a:chOff x="0" y="0"/>
            <a:chExt cx="4182637" cy="3789535"/>
          </a:xfrm>
        </p:grpSpPr>
        <p:grpSp>
          <p:nvGrpSpPr>
            <p:cNvPr name="Group 20" id="20"/>
            <p:cNvGrpSpPr/>
            <p:nvPr/>
          </p:nvGrpSpPr>
          <p:grpSpPr>
            <a:xfrm rot="0">
              <a:off x="0" y="0"/>
              <a:ext cx="4182637" cy="3789535"/>
              <a:chOff x="0" y="0"/>
              <a:chExt cx="3208834" cy="2907254"/>
            </a:xfrm>
          </p:grpSpPr>
          <p:sp>
            <p:nvSpPr>
              <p:cNvPr name="Freeform 21" id="21"/>
              <p:cNvSpPr/>
              <p:nvPr/>
            </p:nvSpPr>
            <p:spPr>
              <a:xfrm flipH="false" flipV="false" rot="0">
                <a:off x="0" y="0"/>
                <a:ext cx="3208782" cy="2907222"/>
              </a:xfrm>
              <a:custGeom>
                <a:avLst/>
                <a:gdLst/>
                <a:ahLst/>
                <a:cxnLst/>
                <a:rect r="r" b="b" t="t" l="l"/>
                <a:pathLst>
                  <a:path h="2907222" w="3208782">
                    <a:moveTo>
                      <a:pt x="0" y="484537"/>
                    </a:moveTo>
                    <a:cubicBezTo>
                      <a:pt x="0" y="216925"/>
                      <a:pt x="229362" y="0"/>
                      <a:pt x="512318" y="0"/>
                    </a:cubicBezTo>
                    <a:lnTo>
                      <a:pt x="2696464" y="0"/>
                    </a:lnTo>
                    <a:cubicBezTo>
                      <a:pt x="2979420" y="0"/>
                      <a:pt x="3208782" y="216925"/>
                      <a:pt x="3208782" y="484537"/>
                    </a:cubicBezTo>
                    <a:lnTo>
                      <a:pt x="3208782" y="2422685"/>
                    </a:lnTo>
                    <a:cubicBezTo>
                      <a:pt x="3208782" y="2690297"/>
                      <a:pt x="2979420" y="2907222"/>
                      <a:pt x="2696464" y="2907222"/>
                    </a:cubicBezTo>
                    <a:lnTo>
                      <a:pt x="512318" y="2907222"/>
                    </a:lnTo>
                    <a:cubicBezTo>
                      <a:pt x="229362" y="2907222"/>
                      <a:pt x="0" y="2690297"/>
                      <a:pt x="0" y="2422685"/>
                    </a:cubicBezTo>
                    <a:close/>
                  </a:path>
                </a:pathLst>
              </a:custGeom>
              <a:solidFill>
                <a:srgbClr val="6C1D35"/>
              </a:solidFill>
            </p:spPr>
          </p:sp>
        </p:grpSp>
        <p:grpSp>
          <p:nvGrpSpPr>
            <p:cNvPr name="Group 22" id="22"/>
            <p:cNvGrpSpPr/>
            <p:nvPr/>
          </p:nvGrpSpPr>
          <p:grpSpPr>
            <a:xfrm rot="0">
              <a:off x="903280" y="158745"/>
              <a:ext cx="2361340" cy="1265766"/>
              <a:chOff x="0" y="0"/>
              <a:chExt cx="1811572" cy="971070"/>
            </a:xfrm>
          </p:grpSpPr>
          <p:sp>
            <p:nvSpPr>
              <p:cNvPr name="Freeform 23" id="23"/>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24" id="24"/>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02</a:t>
                </a:r>
              </a:p>
            </p:txBody>
          </p:sp>
        </p:grpSp>
        <p:sp>
          <p:nvSpPr>
            <p:cNvPr name="TextBox 25" id="25"/>
            <p:cNvSpPr txBox="true"/>
            <p:nvPr/>
          </p:nvSpPr>
          <p:spPr>
            <a:xfrm rot="0">
              <a:off x="394174" y="2299425"/>
              <a:ext cx="3379557" cy="984182"/>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Relationship between tables</a:t>
              </a:r>
            </a:p>
          </p:txBody>
        </p:sp>
        <p:sp>
          <p:nvSpPr>
            <p:cNvPr name="TextBox 26" id="26"/>
            <p:cNvSpPr txBox="true"/>
            <p:nvPr/>
          </p:nvSpPr>
          <p:spPr>
            <a:xfrm rot="0">
              <a:off x="394171"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FOREIGN KEY</a:t>
              </a:r>
            </a:p>
          </p:txBody>
        </p:sp>
      </p:grpSp>
      <p:grpSp>
        <p:nvGrpSpPr>
          <p:cNvPr name="Group 27" id="27"/>
          <p:cNvGrpSpPr/>
          <p:nvPr/>
        </p:nvGrpSpPr>
        <p:grpSpPr>
          <a:xfrm rot="0">
            <a:off x="13243373" y="2679792"/>
            <a:ext cx="3136978" cy="2494514"/>
            <a:chOff x="0" y="0"/>
            <a:chExt cx="4182637" cy="3326019"/>
          </a:xfrm>
        </p:grpSpPr>
        <p:grpSp>
          <p:nvGrpSpPr>
            <p:cNvPr name="Group 28" id="28"/>
            <p:cNvGrpSpPr/>
            <p:nvPr/>
          </p:nvGrpSpPr>
          <p:grpSpPr>
            <a:xfrm rot="0">
              <a:off x="0" y="0"/>
              <a:ext cx="4182637" cy="3326019"/>
              <a:chOff x="0" y="0"/>
              <a:chExt cx="3208834" cy="2551654"/>
            </a:xfrm>
          </p:grpSpPr>
          <p:sp>
            <p:nvSpPr>
              <p:cNvPr name="Freeform 29" id="29"/>
              <p:cNvSpPr/>
              <p:nvPr/>
            </p:nvSpPr>
            <p:spPr>
              <a:xfrm flipH="false" flipV="false" rot="0">
                <a:off x="0" y="0"/>
                <a:ext cx="3208782" cy="2551626"/>
              </a:xfrm>
              <a:custGeom>
                <a:avLst/>
                <a:gdLst/>
                <a:ahLst/>
                <a:cxnLst/>
                <a:rect r="r" b="b" t="t" l="l"/>
                <a:pathLst>
                  <a:path h="2551626" w="3208782">
                    <a:moveTo>
                      <a:pt x="0" y="425271"/>
                    </a:moveTo>
                    <a:cubicBezTo>
                      <a:pt x="0" y="190392"/>
                      <a:pt x="229362" y="0"/>
                      <a:pt x="512318" y="0"/>
                    </a:cubicBezTo>
                    <a:lnTo>
                      <a:pt x="2696464" y="0"/>
                    </a:lnTo>
                    <a:cubicBezTo>
                      <a:pt x="2979420" y="0"/>
                      <a:pt x="3208782" y="190392"/>
                      <a:pt x="3208782" y="425271"/>
                    </a:cubicBezTo>
                    <a:lnTo>
                      <a:pt x="3208782" y="2126355"/>
                    </a:lnTo>
                    <a:cubicBezTo>
                      <a:pt x="3208782" y="2361234"/>
                      <a:pt x="2979420" y="2551626"/>
                      <a:pt x="2696464" y="2551626"/>
                    </a:cubicBezTo>
                    <a:lnTo>
                      <a:pt x="512318" y="2551626"/>
                    </a:lnTo>
                    <a:cubicBezTo>
                      <a:pt x="229362" y="2551626"/>
                      <a:pt x="0" y="2361234"/>
                      <a:pt x="0" y="2126355"/>
                    </a:cubicBezTo>
                    <a:close/>
                  </a:path>
                </a:pathLst>
              </a:custGeom>
              <a:solidFill>
                <a:srgbClr val="956251"/>
              </a:solidFill>
            </p:spPr>
          </p:sp>
        </p:grpSp>
        <p:grpSp>
          <p:nvGrpSpPr>
            <p:cNvPr name="Group 30" id="30"/>
            <p:cNvGrpSpPr/>
            <p:nvPr/>
          </p:nvGrpSpPr>
          <p:grpSpPr>
            <a:xfrm rot="0">
              <a:off x="968334" y="158745"/>
              <a:ext cx="2361340" cy="1265766"/>
              <a:chOff x="0" y="0"/>
              <a:chExt cx="1811572" cy="971070"/>
            </a:xfrm>
          </p:grpSpPr>
          <p:sp>
            <p:nvSpPr>
              <p:cNvPr name="Freeform 31" id="31"/>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32" id="32"/>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03</a:t>
                </a:r>
              </a:p>
            </p:txBody>
          </p:sp>
        </p:grpSp>
        <p:sp>
          <p:nvSpPr>
            <p:cNvPr name="TextBox 33" id="33"/>
            <p:cNvSpPr txBox="true"/>
            <p:nvPr/>
          </p:nvSpPr>
          <p:spPr>
            <a:xfrm rot="0">
              <a:off x="459228" y="2299425"/>
              <a:ext cx="3379557" cy="520666"/>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Prevent duplicates</a:t>
              </a:r>
            </a:p>
          </p:txBody>
        </p:sp>
        <p:sp>
          <p:nvSpPr>
            <p:cNvPr name="TextBox 34" id="34"/>
            <p:cNvSpPr txBox="true"/>
            <p:nvPr/>
          </p:nvSpPr>
          <p:spPr>
            <a:xfrm rot="0">
              <a:off x="459225"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UNIQUE</a:t>
              </a:r>
            </a:p>
          </p:txBody>
        </p:sp>
      </p:grpSp>
      <p:grpSp>
        <p:nvGrpSpPr>
          <p:cNvPr name="Group 35" id="35"/>
          <p:cNvGrpSpPr>
            <a:grpSpLocks noChangeAspect="true"/>
          </p:cNvGrpSpPr>
          <p:nvPr/>
        </p:nvGrpSpPr>
        <p:grpSpPr>
          <a:xfrm rot="0">
            <a:off x="7671027" y="9891408"/>
            <a:ext cx="2926896" cy="220267"/>
            <a:chOff x="0" y="0"/>
            <a:chExt cx="3902528" cy="293690"/>
          </a:xfrm>
        </p:grpSpPr>
        <p:sp>
          <p:nvSpPr>
            <p:cNvPr name="Freeform 36" id="36"/>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5"/>
              <a:stretch>
                <a:fillRect l="0" t="0" r="1" b="20"/>
              </a:stretch>
            </a:blipFill>
          </p:spPr>
        </p:sp>
      </p:grpSp>
      <p:grpSp>
        <p:nvGrpSpPr>
          <p:cNvPr name="Group 37" id="37"/>
          <p:cNvGrpSpPr/>
          <p:nvPr/>
        </p:nvGrpSpPr>
        <p:grpSpPr>
          <a:xfrm rot="0">
            <a:off x="1914830" y="1284372"/>
            <a:ext cx="14873286" cy="1281120"/>
            <a:chOff x="0" y="0"/>
            <a:chExt cx="19831048" cy="1708160"/>
          </a:xfrm>
        </p:grpSpPr>
        <p:sp>
          <p:nvSpPr>
            <p:cNvPr name="Freeform 38" id="38"/>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39" id="39"/>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Constraints</a:t>
              </a:r>
            </a:p>
          </p:txBody>
        </p:sp>
      </p:grpSp>
      <p:grpSp>
        <p:nvGrpSpPr>
          <p:cNvPr name="Group 40" id="40"/>
          <p:cNvGrpSpPr/>
          <p:nvPr/>
        </p:nvGrpSpPr>
        <p:grpSpPr>
          <a:xfrm rot="0">
            <a:off x="2322594" y="5991249"/>
            <a:ext cx="3136978" cy="2494514"/>
            <a:chOff x="0" y="0"/>
            <a:chExt cx="4182637" cy="3326019"/>
          </a:xfrm>
        </p:grpSpPr>
        <p:grpSp>
          <p:nvGrpSpPr>
            <p:cNvPr name="Group 41" id="41"/>
            <p:cNvGrpSpPr/>
            <p:nvPr/>
          </p:nvGrpSpPr>
          <p:grpSpPr>
            <a:xfrm rot="0">
              <a:off x="0" y="0"/>
              <a:ext cx="4182637" cy="3326019"/>
              <a:chOff x="0" y="0"/>
              <a:chExt cx="3208834" cy="2551654"/>
            </a:xfrm>
          </p:grpSpPr>
          <p:sp>
            <p:nvSpPr>
              <p:cNvPr name="Freeform 42" id="42"/>
              <p:cNvSpPr/>
              <p:nvPr/>
            </p:nvSpPr>
            <p:spPr>
              <a:xfrm flipH="false" flipV="false" rot="0">
                <a:off x="0" y="0"/>
                <a:ext cx="3208782" cy="2551626"/>
              </a:xfrm>
              <a:custGeom>
                <a:avLst/>
                <a:gdLst/>
                <a:ahLst/>
                <a:cxnLst/>
                <a:rect r="r" b="b" t="t" l="l"/>
                <a:pathLst>
                  <a:path h="2551626" w="3208782">
                    <a:moveTo>
                      <a:pt x="0" y="425271"/>
                    </a:moveTo>
                    <a:cubicBezTo>
                      <a:pt x="0" y="190392"/>
                      <a:pt x="229362" y="0"/>
                      <a:pt x="512318" y="0"/>
                    </a:cubicBezTo>
                    <a:lnTo>
                      <a:pt x="2696464" y="0"/>
                    </a:lnTo>
                    <a:cubicBezTo>
                      <a:pt x="2979420" y="0"/>
                      <a:pt x="3208782" y="190392"/>
                      <a:pt x="3208782" y="425271"/>
                    </a:cubicBezTo>
                    <a:lnTo>
                      <a:pt x="3208782" y="2126355"/>
                    </a:lnTo>
                    <a:cubicBezTo>
                      <a:pt x="3208782" y="2361234"/>
                      <a:pt x="2979420" y="2551626"/>
                      <a:pt x="2696464" y="2551626"/>
                    </a:cubicBezTo>
                    <a:lnTo>
                      <a:pt x="512318" y="2551626"/>
                    </a:lnTo>
                    <a:cubicBezTo>
                      <a:pt x="229362" y="2551626"/>
                      <a:pt x="0" y="2361234"/>
                      <a:pt x="0" y="2126355"/>
                    </a:cubicBezTo>
                    <a:close/>
                  </a:path>
                </a:pathLst>
              </a:custGeom>
              <a:solidFill>
                <a:srgbClr val="9B2D1F"/>
              </a:solidFill>
            </p:spPr>
          </p:sp>
        </p:grpSp>
        <p:grpSp>
          <p:nvGrpSpPr>
            <p:cNvPr name="Group 43" id="43"/>
            <p:cNvGrpSpPr/>
            <p:nvPr/>
          </p:nvGrpSpPr>
          <p:grpSpPr>
            <a:xfrm rot="0">
              <a:off x="947038" y="158745"/>
              <a:ext cx="2361340" cy="1265766"/>
              <a:chOff x="0" y="0"/>
              <a:chExt cx="1811572" cy="971070"/>
            </a:xfrm>
          </p:grpSpPr>
          <p:sp>
            <p:nvSpPr>
              <p:cNvPr name="Freeform 44" id="44"/>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45" id="45"/>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04</a:t>
                </a:r>
              </a:p>
            </p:txBody>
          </p:sp>
        </p:grpSp>
        <p:sp>
          <p:nvSpPr>
            <p:cNvPr name="TextBox 46" id="46"/>
            <p:cNvSpPr txBox="true"/>
            <p:nvPr/>
          </p:nvSpPr>
          <p:spPr>
            <a:xfrm rot="0">
              <a:off x="437932" y="2299425"/>
              <a:ext cx="3379557" cy="520666"/>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Required values</a:t>
              </a:r>
            </a:p>
          </p:txBody>
        </p:sp>
        <p:sp>
          <p:nvSpPr>
            <p:cNvPr name="TextBox 47" id="47"/>
            <p:cNvSpPr txBox="true"/>
            <p:nvPr/>
          </p:nvSpPr>
          <p:spPr>
            <a:xfrm rot="0">
              <a:off x="437929"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NOT NULL</a:t>
              </a:r>
            </a:p>
          </p:txBody>
        </p:sp>
      </p:grpSp>
      <p:grpSp>
        <p:nvGrpSpPr>
          <p:cNvPr name="Group 48" id="48"/>
          <p:cNvGrpSpPr/>
          <p:nvPr/>
        </p:nvGrpSpPr>
        <p:grpSpPr>
          <a:xfrm rot="0">
            <a:off x="7780918" y="5991249"/>
            <a:ext cx="3136978" cy="2842151"/>
            <a:chOff x="0" y="0"/>
            <a:chExt cx="4182637" cy="3789535"/>
          </a:xfrm>
        </p:grpSpPr>
        <p:grpSp>
          <p:nvGrpSpPr>
            <p:cNvPr name="Group 49" id="49"/>
            <p:cNvGrpSpPr/>
            <p:nvPr/>
          </p:nvGrpSpPr>
          <p:grpSpPr>
            <a:xfrm rot="0">
              <a:off x="0" y="0"/>
              <a:ext cx="4182637" cy="3789535"/>
              <a:chOff x="0" y="0"/>
              <a:chExt cx="3208834" cy="2907254"/>
            </a:xfrm>
          </p:grpSpPr>
          <p:sp>
            <p:nvSpPr>
              <p:cNvPr name="Freeform 50" id="50"/>
              <p:cNvSpPr/>
              <p:nvPr/>
            </p:nvSpPr>
            <p:spPr>
              <a:xfrm flipH="false" flipV="false" rot="0">
                <a:off x="0" y="0"/>
                <a:ext cx="3208782" cy="2907222"/>
              </a:xfrm>
              <a:custGeom>
                <a:avLst/>
                <a:gdLst/>
                <a:ahLst/>
                <a:cxnLst/>
                <a:rect r="r" b="b" t="t" l="l"/>
                <a:pathLst>
                  <a:path h="2907222" w="3208782">
                    <a:moveTo>
                      <a:pt x="0" y="484537"/>
                    </a:moveTo>
                    <a:cubicBezTo>
                      <a:pt x="0" y="216925"/>
                      <a:pt x="229362" y="0"/>
                      <a:pt x="512318" y="0"/>
                    </a:cubicBezTo>
                    <a:lnTo>
                      <a:pt x="2696464" y="0"/>
                    </a:lnTo>
                    <a:cubicBezTo>
                      <a:pt x="2979420" y="0"/>
                      <a:pt x="3208782" y="216925"/>
                      <a:pt x="3208782" y="484537"/>
                    </a:cubicBezTo>
                    <a:lnTo>
                      <a:pt x="3208782" y="2422685"/>
                    </a:lnTo>
                    <a:cubicBezTo>
                      <a:pt x="3208782" y="2690297"/>
                      <a:pt x="2979420" y="2907222"/>
                      <a:pt x="2696464" y="2907222"/>
                    </a:cubicBezTo>
                    <a:lnTo>
                      <a:pt x="512318" y="2907222"/>
                    </a:lnTo>
                    <a:cubicBezTo>
                      <a:pt x="229362" y="2907222"/>
                      <a:pt x="0" y="2690297"/>
                      <a:pt x="0" y="2422685"/>
                    </a:cubicBezTo>
                    <a:close/>
                  </a:path>
                </a:pathLst>
              </a:custGeom>
              <a:solidFill>
                <a:srgbClr val="6C1D35"/>
              </a:solidFill>
            </p:spPr>
          </p:sp>
        </p:grpSp>
        <p:grpSp>
          <p:nvGrpSpPr>
            <p:cNvPr name="Group 51" id="51"/>
            <p:cNvGrpSpPr/>
            <p:nvPr/>
          </p:nvGrpSpPr>
          <p:grpSpPr>
            <a:xfrm rot="0">
              <a:off x="903280" y="158745"/>
              <a:ext cx="2361340" cy="1265766"/>
              <a:chOff x="0" y="0"/>
              <a:chExt cx="1811572" cy="971070"/>
            </a:xfrm>
          </p:grpSpPr>
          <p:sp>
            <p:nvSpPr>
              <p:cNvPr name="Freeform 52" id="52"/>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53" id="53"/>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05</a:t>
                </a:r>
              </a:p>
            </p:txBody>
          </p:sp>
        </p:grpSp>
        <p:sp>
          <p:nvSpPr>
            <p:cNvPr name="TextBox 54" id="54"/>
            <p:cNvSpPr txBox="true"/>
            <p:nvPr/>
          </p:nvSpPr>
          <p:spPr>
            <a:xfrm rot="0">
              <a:off x="394174" y="2299425"/>
              <a:ext cx="3379557" cy="984182"/>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When not inserted with any values</a:t>
              </a:r>
            </a:p>
          </p:txBody>
        </p:sp>
        <p:sp>
          <p:nvSpPr>
            <p:cNvPr name="TextBox 55" id="55"/>
            <p:cNvSpPr txBox="true"/>
            <p:nvPr/>
          </p:nvSpPr>
          <p:spPr>
            <a:xfrm rot="0">
              <a:off x="394171"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DEFAULT</a:t>
              </a:r>
            </a:p>
          </p:txBody>
        </p:sp>
      </p:grpSp>
      <p:grpSp>
        <p:nvGrpSpPr>
          <p:cNvPr name="Group 56" id="56"/>
          <p:cNvGrpSpPr/>
          <p:nvPr/>
        </p:nvGrpSpPr>
        <p:grpSpPr>
          <a:xfrm rot="0">
            <a:off x="13241996" y="5991249"/>
            <a:ext cx="3136978" cy="2494514"/>
            <a:chOff x="0" y="0"/>
            <a:chExt cx="4182637" cy="3326019"/>
          </a:xfrm>
        </p:grpSpPr>
        <p:grpSp>
          <p:nvGrpSpPr>
            <p:cNvPr name="Group 57" id="57"/>
            <p:cNvGrpSpPr/>
            <p:nvPr/>
          </p:nvGrpSpPr>
          <p:grpSpPr>
            <a:xfrm rot="0">
              <a:off x="0" y="0"/>
              <a:ext cx="4182637" cy="3326019"/>
              <a:chOff x="0" y="0"/>
              <a:chExt cx="3208834" cy="2551654"/>
            </a:xfrm>
          </p:grpSpPr>
          <p:sp>
            <p:nvSpPr>
              <p:cNvPr name="Freeform 58" id="58"/>
              <p:cNvSpPr/>
              <p:nvPr/>
            </p:nvSpPr>
            <p:spPr>
              <a:xfrm flipH="false" flipV="false" rot="0">
                <a:off x="0" y="0"/>
                <a:ext cx="3208782" cy="2551626"/>
              </a:xfrm>
              <a:custGeom>
                <a:avLst/>
                <a:gdLst/>
                <a:ahLst/>
                <a:cxnLst/>
                <a:rect r="r" b="b" t="t" l="l"/>
                <a:pathLst>
                  <a:path h="2551626" w="3208782">
                    <a:moveTo>
                      <a:pt x="0" y="425271"/>
                    </a:moveTo>
                    <a:cubicBezTo>
                      <a:pt x="0" y="190392"/>
                      <a:pt x="229362" y="0"/>
                      <a:pt x="512318" y="0"/>
                    </a:cubicBezTo>
                    <a:lnTo>
                      <a:pt x="2696464" y="0"/>
                    </a:lnTo>
                    <a:cubicBezTo>
                      <a:pt x="2979420" y="0"/>
                      <a:pt x="3208782" y="190392"/>
                      <a:pt x="3208782" y="425271"/>
                    </a:cubicBezTo>
                    <a:lnTo>
                      <a:pt x="3208782" y="2126355"/>
                    </a:lnTo>
                    <a:cubicBezTo>
                      <a:pt x="3208782" y="2361234"/>
                      <a:pt x="2979420" y="2551626"/>
                      <a:pt x="2696464" y="2551626"/>
                    </a:cubicBezTo>
                    <a:lnTo>
                      <a:pt x="512318" y="2551626"/>
                    </a:lnTo>
                    <a:cubicBezTo>
                      <a:pt x="229362" y="2551626"/>
                      <a:pt x="0" y="2361234"/>
                      <a:pt x="0" y="2126355"/>
                    </a:cubicBezTo>
                    <a:close/>
                  </a:path>
                </a:pathLst>
              </a:custGeom>
              <a:solidFill>
                <a:srgbClr val="956251"/>
              </a:solidFill>
            </p:spPr>
          </p:sp>
        </p:grpSp>
        <p:grpSp>
          <p:nvGrpSpPr>
            <p:cNvPr name="Group 59" id="59"/>
            <p:cNvGrpSpPr/>
            <p:nvPr/>
          </p:nvGrpSpPr>
          <p:grpSpPr>
            <a:xfrm rot="0">
              <a:off x="968334" y="158745"/>
              <a:ext cx="2361340" cy="1265766"/>
              <a:chOff x="0" y="0"/>
              <a:chExt cx="1811572" cy="971070"/>
            </a:xfrm>
          </p:grpSpPr>
          <p:sp>
            <p:nvSpPr>
              <p:cNvPr name="Freeform 60" id="60"/>
              <p:cNvSpPr/>
              <p:nvPr/>
            </p:nvSpPr>
            <p:spPr>
              <a:xfrm flipH="false" flipV="false" rot="0">
                <a:off x="0" y="0"/>
                <a:ext cx="1811572" cy="971070"/>
              </a:xfrm>
              <a:custGeom>
                <a:avLst/>
                <a:gdLst/>
                <a:ahLst/>
                <a:cxnLst/>
                <a:rect r="r" b="b" t="t" l="l"/>
                <a:pathLst>
                  <a:path h="971070" w="1811572">
                    <a:moveTo>
                      <a:pt x="0" y="0"/>
                    </a:moveTo>
                    <a:lnTo>
                      <a:pt x="1811572" y="0"/>
                    </a:lnTo>
                    <a:lnTo>
                      <a:pt x="1811572" y="971070"/>
                    </a:lnTo>
                    <a:lnTo>
                      <a:pt x="0" y="971070"/>
                    </a:lnTo>
                    <a:close/>
                  </a:path>
                </a:pathLst>
              </a:custGeom>
            </p:spPr>
          </p:sp>
          <p:sp>
            <p:nvSpPr>
              <p:cNvPr name="TextBox 61" id="61"/>
              <p:cNvSpPr txBox="true"/>
              <p:nvPr/>
            </p:nvSpPr>
            <p:spPr>
              <a:xfrm>
                <a:off x="0" y="-85725"/>
                <a:ext cx="1811572" cy="1056795"/>
              </a:xfrm>
              <a:prstGeom prst="rect">
                <a:avLst/>
              </a:prstGeom>
            </p:spPr>
            <p:txBody>
              <a:bodyPr anchor="ctr" rtlCol="false" tIns="0" lIns="0" bIns="0" rIns="0"/>
              <a:lstStyle/>
              <a:p>
                <a:pPr algn="ctr">
                  <a:lnSpc>
                    <a:spcPts val="5040"/>
                  </a:lnSpc>
                </a:pPr>
                <a:r>
                  <a:rPr lang="en-US" sz="4200" b="true">
                    <a:solidFill>
                      <a:srgbClr val="FFFFFF"/>
                    </a:solidFill>
                    <a:latin typeface="Calibri (MS) Bold"/>
                    <a:ea typeface="Calibri (MS) Bold"/>
                    <a:cs typeface="Calibri (MS) Bold"/>
                    <a:sym typeface="Calibri (MS) Bold"/>
                  </a:rPr>
                  <a:t>06</a:t>
                </a:r>
              </a:p>
            </p:txBody>
          </p:sp>
        </p:grpSp>
        <p:sp>
          <p:nvSpPr>
            <p:cNvPr name="TextBox 62" id="62"/>
            <p:cNvSpPr txBox="true"/>
            <p:nvPr/>
          </p:nvSpPr>
          <p:spPr>
            <a:xfrm rot="0">
              <a:off x="459228" y="2299425"/>
              <a:ext cx="3379557" cy="520666"/>
            </a:xfrm>
            <a:prstGeom prst="rect">
              <a:avLst/>
            </a:prstGeom>
          </p:spPr>
          <p:txBody>
            <a:bodyPr anchor="t" rtlCol="false" tIns="0" lIns="0" bIns="0" rIns="0">
              <a:spAutoFit/>
            </a:bodyPr>
            <a:lstStyle/>
            <a:p>
              <a:pPr algn="ctr">
                <a:lnSpc>
                  <a:spcPts val="2815"/>
                </a:lnSpc>
              </a:pPr>
              <a:r>
                <a:rPr lang="en-US" sz="2346">
                  <a:solidFill>
                    <a:srgbClr val="FFFFFF"/>
                  </a:solidFill>
                  <a:latin typeface="Calibri (MS)"/>
                  <a:ea typeface="Calibri (MS)"/>
                  <a:cs typeface="Calibri (MS)"/>
                  <a:sym typeface="Calibri (MS)"/>
                </a:rPr>
                <a:t>Enforce logical rules</a:t>
              </a:r>
            </a:p>
          </p:txBody>
        </p:sp>
        <p:sp>
          <p:nvSpPr>
            <p:cNvPr name="TextBox 63" id="63"/>
            <p:cNvSpPr txBox="true"/>
            <p:nvPr/>
          </p:nvSpPr>
          <p:spPr>
            <a:xfrm rot="0">
              <a:off x="459225" y="1676989"/>
              <a:ext cx="3348129" cy="520666"/>
            </a:xfrm>
            <a:prstGeom prst="rect">
              <a:avLst/>
            </a:prstGeom>
          </p:spPr>
          <p:txBody>
            <a:bodyPr anchor="t" rtlCol="false" tIns="0" lIns="0" bIns="0" rIns="0">
              <a:spAutoFit/>
            </a:bodyPr>
            <a:lstStyle/>
            <a:p>
              <a:pPr algn="ctr">
                <a:lnSpc>
                  <a:spcPts val="2815"/>
                </a:lnSpc>
              </a:pPr>
              <a:r>
                <a:rPr lang="en-US" sz="2346" b="true">
                  <a:solidFill>
                    <a:srgbClr val="FFFFFF"/>
                  </a:solidFill>
                  <a:latin typeface="Calibri (MS) Bold"/>
                  <a:ea typeface="Calibri (MS) Bold"/>
                  <a:cs typeface="Calibri (MS) Bold"/>
                  <a:sym typeface="Calibri (MS) Bold"/>
                </a:rPr>
                <a:t>CHECK</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345150" cy="10287002"/>
            <a:chOff x="0" y="0"/>
            <a:chExt cx="24460200" cy="13716002"/>
          </a:xfrm>
        </p:grpSpPr>
        <p:sp>
          <p:nvSpPr>
            <p:cNvPr name="Freeform 3" id="3"/>
            <p:cNvSpPr/>
            <p:nvPr/>
          </p:nvSpPr>
          <p:spPr>
            <a:xfrm flipH="false" flipV="false" rot="0">
              <a:off x="0" y="0"/>
              <a:ext cx="24460200" cy="13716000"/>
            </a:xfrm>
            <a:custGeom>
              <a:avLst/>
              <a:gdLst/>
              <a:ahLst/>
              <a:cxnLst/>
              <a:rect r="r" b="b" t="t" l="l"/>
              <a:pathLst>
                <a:path h="13716000" w="24460200">
                  <a:moveTo>
                    <a:pt x="0" y="0"/>
                  </a:moveTo>
                  <a:lnTo>
                    <a:pt x="24460200" y="0"/>
                  </a:lnTo>
                  <a:lnTo>
                    <a:pt x="24460200" y="13716000"/>
                  </a:lnTo>
                  <a:lnTo>
                    <a:pt x="0" y="13716000"/>
                  </a:lnTo>
                  <a:close/>
                </a:path>
              </a:pathLst>
            </a:custGeom>
            <a:solidFill>
              <a:srgbClr val="6C1D35"/>
            </a:solidFill>
          </p:spPr>
        </p:sp>
      </p:grpSp>
      <p:grpSp>
        <p:nvGrpSpPr>
          <p:cNvPr name="Group 4" id="4"/>
          <p:cNvGrpSpPr>
            <a:grpSpLocks noChangeAspect="true"/>
          </p:cNvGrpSpPr>
          <p:nvPr/>
        </p:nvGrpSpPr>
        <p:grpSpPr>
          <a:xfrm rot="-5400000">
            <a:off x="4029075" y="-4029075"/>
            <a:ext cx="10287000" cy="18345150"/>
            <a:chOff x="0" y="0"/>
            <a:chExt cx="13716000" cy="24460200"/>
          </a:xfrm>
        </p:grpSpPr>
        <p:sp>
          <p:nvSpPr>
            <p:cNvPr name="Freeform 5" id="5"/>
            <p:cNvSpPr/>
            <p:nvPr/>
          </p:nvSpPr>
          <p:spPr>
            <a:xfrm flipH="false" flipV="false" rot="0">
              <a:off x="0" y="0"/>
              <a:ext cx="13716000" cy="24460200"/>
            </a:xfrm>
            <a:custGeom>
              <a:avLst/>
              <a:gdLst/>
              <a:ahLst/>
              <a:cxnLst/>
              <a:rect r="r" b="b" t="t" l="l"/>
              <a:pathLst>
                <a:path h="24460200" w="13716000">
                  <a:moveTo>
                    <a:pt x="0" y="0"/>
                  </a:moveTo>
                  <a:lnTo>
                    <a:pt x="13716000" y="0"/>
                  </a:lnTo>
                  <a:lnTo>
                    <a:pt x="13716000" y="24460200"/>
                  </a:lnTo>
                  <a:lnTo>
                    <a:pt x="0" y="24460200"/>
                  </a:lnTo>
                  <a:lnTo>
                    <a:pt x="0" y="0"/>
                  </a:lnTo>
                  <a:close/>
                </a:path>
              </a:pathLst>
            </a:custGeom>
            <a:blipFill>
              <a:blip r:embed="rId2">
                <a:alphaModFix amt="32000"/>
              </a:blip>
              <a:stretch>
                <a:fillRect l="-26019" t="0" r="0" b="0"/>
              </a:stretch>
            </a:blipFill>
          </p:spPr>
        </p:sp>
      </p:grpSp>
      <p:grpSp>
        <p:nvGrpSpPr>
          <p:cNvPr name="Group 6" id="6"/>
          <p:cNvGrpSpPr/>
          <p:nvPr/>
        </p:nvGrpSpPr>
        <p:grpSpPr>
          <a:xfrm rot="0">
            <a:off x="5469702" y="4381753"/>
            <a:ext cx="7060407" cy="1815294"/>
            <a:chOff x="0" y="0"/>
            <a:chExt cx="9413876" cy="2420392"/>
          </a:xfrm>
        </p:grpSpPr>
        <p:sp>
          <p:nvSpPr>
            <p:cNvPr name="Freeform 7" id="7"/>
            <p:cNvSpPr/>
            <p:nvPr/>
          </p:nvSpPr>
          <p:spPr>
            <a:xfrm flipH="false" flipV="false" rot="0">
              <a:off x="0" y="0"/>
              <a:ext cx="9413876" cy="2420392"/>
            </a:xfrm>
            <a:custGeom>
              <a:avLst/>
              <a:gdLst/>
              <a:ahLst/>
              <a:cxnLst/>
              <a:rect r="r" b="b" t="t" l="l"/>
              <a:pathLst>
                <a:path h="2420392" w="9413876">
                  <a:moveTo>
                    <a:pt x="0" y="0"/>
                  </a:moveTo>
                  <a:lnTo>
                    <a:pt x="9413876" y="0"/>
                  </a:lnTo>
                  <a:lnTo>
                    <a:pt x="9413876" y="2420392"/>
                  </a:lnTo>
                  <a:lnTo>
                    <a:pt x="0" y="2420392"/>
                  </a:lnTo>
                  <a:close/>
                </a:path>
              </a:pathLst>
            </a:custGeom>
          </p:spPr>
        </p:sp>
        <p:sp>
          <p:nvSpPr>
            <p:cNvPr name="TextBox 8" id="8"/>
            <p:cNvSpPr txBox="true"/>
            <p:nvPr/>
          </p:nvSpPr>
          <p:spPr>
            <a:xfrm>
              <a:off x="0" y="-190500"/>
              <a:ext cx="9413876" cy="2610892"/>
            </a:xfrm>
            <a:prstGeom prst="rect">
              <a:avLst/>
            </a:prstGeom>
          </p:spPr>
          <p:txBody>
            <a:bodyPr anchor="ctr" rtlCol="false" tIns="0" lIns="0" bIns="0" rIns="0"/>
            <a:lstStyle/>
            <a:p>
              <a:pPr algn="ctr">
                <a:lnSpc>
                  <a:spcPts val="10800"/>
                </a:lnSpc>
              </a:pPr>
              <a:r>
                <a:rPr lang="en-US" sz="9000" b="true">
                  <a:solidFill>
                    <a:srgbClr val="FFFFFF"/>
                  </a:solidFill>
                  <a:latin typeface="Calibri (MS) Bold"/>
                  <a:ea typeface="Calibri (MS) Bold"/>
                  <a:cs typeface="Calibri (MS) Bold"/>
                  <a:sym typeface="Calibri (MS) Bold"/>
                </a:rPr>
                <a:t>DML</a:t>
              </a:r>
            </a:p>
          </p:txBody>
        </p:sp>
      </p:grpSp>
      <p:sp>
        <p:nvSpPr>
          <p:cNvPr name="Freeform 9" id="9"/>
          <p:cNvSpPr/>
          <p:nvPr/>
        </p:nvSpPr>
        <p:spPr>
          <a:xfrm flipH="false" flipV="false" rot="0">
            <a:off x="5049360" y="6100652"/>
            <a:ext cx="420342" cy="422937"/>
          </a:xfrm>
          <a:custGeom>
            <a:avLst/>
            <a:gdLst/>
            <a:ahLst/>
            <a:cxnLst/>
            <a:rect r="r" b="b" t="t" l="l"/>
            <a:pathLst>
              <a:path h="422937" w="420342">
                <a:moveTo>
                  <a:pt x="0" y="0"/>
                </a:moveTo>
                <a:lnTo>
                  <a:pt x="420342" y="0"/>
                </a:lnTo>
                <a:lnTo>
                  <a:pt x="420342" y="422936"/>
                </a:lnTo>
                <a:lnTo>
                  <a:pt x="0" y="422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1296716" y="6115600"/>
            <a:ext cx="419694" cy="422937"/>
          </a:xfrm>
          <a:custGeom>
            <a:avLst/>
            <a:gdLst/>
            <a:ahLst/>
            <a:cxnLst/>
            <a:rect r="r" b="b" t="t" l="l"/>
            <a:pathLst>
              <a:path h="422937" w="419694">
                <a:moveTo>
                  <a:pt x="0" y="0"/>
                </a:moveTo>
                <a:lnTo>
                  <a:pt x="419694" y="0"/>
                </a:lnTo>
                <a:lnTo>
                  <a:pt x="419694" y="422937"/>
                </a:lnTo>
                <a:lnTo>
                  <a:pt x="0" y="422937"/>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p:nvPr/>
        </p:nvGrpSpPr>
        <p:grpSpPr>
          <a:xfrm rot="0">
            <a:off x="5841632" y="32146"/>
            <a:ext cx="6690252" cy="384760"/>
            <a:chOff x="0" y="0"/>
            <a:chExt cx="8920336" cy="513014"/>
          </a:xfrm>
        </p:grpSpPr>
        <p:sp>
          <p:nvSpPr>
            <p:cNvPr name="Freeform 5" id="5"/>
            <p:cNvSpPr/>
            <p:nvPr/>
          </p:nvSpPr>
          <p:spPr>
            <a:xfrm flipH="false" flipV="false" rot="0">
              <a:off x="0" y="0"/>
              <a:ext cx="8920353" cy="512953"/>
            </a:xfrm>
            <a:custGeom>
              <a:avLst/>
              <a:gdLst/>
              <a:ahLst/>
              <a:cxnLst/>
              <a:rect r="r" b="b" t="t" l="l"/>
              <a:pathLst>
                <a:path h="512953" w="8920353">
                  <a:moveTo>
                    <a:pt x="0" y="0"/>
                  </a:moveTo>
                  <a:lnTo>
                    <a:pt x="8920353" y="0"/>
                  </a:lnTo>
                  <a:lnTo>
                    <a:pt x="8920353" y="512953"/>
                  </a:lnTo>
                  <a:lnTo>
                    <a:pt x="0" y="512953"/>
                  </a:lnTo>
                  <a:close/>
                </a:path>
              </a:pathLst>
            </a:custGeom>
            <a:solidFill>
              <a:srgbClr val="6C1D35"/>
            </a:solidFill>
          </p:spPr>
        </p:sp>
      </p:grpSp>
      <p:grpSp>
        <p:nvGrpSpPr>
          <p:cNvPr name="Group 6" id="6"/>
          <p:cNvGrpSpPr>
            <a:grpSpLocks noChangeAspect="true"/>
          </p:cNvGrpSpPr>
          <p:nvPr/>
        </p:nvGrpSpPr>
        <p:grpSpPr>
          <a:xfrm rot="0">
            <a:off x="15718317" y="425385"/>
            <a:ext cx="2202251" cy="746192"/>
            <a:chOff x="0" y="0"/>
            <a:chExt cx="2936334" cy="994922"/>
          </a:xfrm>
        </p:grpSpPr>
        <p:sp>
          <p:nvSpPr>
            <p:cNvPr name="Freeform 7" id="7"/>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8" id="8"/>
          <p:cNvGrpSpPr/>
          <p:nvPr/>
        </p:nvGrpSpPr>
        <p:grpSpPr>
          <a:xfrm rot="0">
            <a:off x="-19050" y="10212993"/>
            <a:ext cx="18373520" cy="163459"/>
            <a:chOff x="0" y="0"/>
            <a:chExt cx="24498026" cy="217946"/>
          </a:xfrm>
        </p:grpSpPr>
        <p:sp>
          <p:nvSpPr>
            <p:cNvPr name="Freeform 9" id="9"/>
            <p:cNvSpPr/>
            <p:nvPr/>
          </p:nvSpPr>
          <p:spPr>
            <a:xfrm flipH="false" flipV="false" rot="0">
              <a:off x="0" y="0"/>
              <a:ext cx="24498046" cy="217932"/>
            </a:xfrm>
            <a:custGeom>
              <a:avLst/>
              <a:gdLst/>
              <a:ahLst/>
              <a:cxnLst/>
              <a:rect r="r" b="b" t="t" l="l"/>
              <a:pathLst>
                <a:path h="217932" w="24498046">
                  <a:moveTo>
                    <a:pt x="0" y="0"/>
                  </a:moveTo>
                  <a:lnTo>
                    <a:pt x="24498046" y="0"/>
                  </a:lnTo>
                  <a:lnTo>
                    <a:pt x="24498046" y="217932"/>
                  </a:lnTo>
                  <a:lnTo>
                    <a:pt x="0" y="217932"/>
                  </a:lnTo>
                  <a:close/>
                </a:path>
              </a:pathLst>
            </a:custGeom>
            <a:solidFill>
              <a:srgbClr val="D9D9D9"/>
            </a:solidFill>
          </p:spPr>
        </p:sp>
      </p:grpSp>
      <p:grpSp>
        <p:nvGrpSpPr>
          <p:cNvPr name="Group 10" id="10"/>
          <p:cNvGrpSpPr/>
          <p:nvPr/>
        </p:nvGrpSpPr>
        <p:grpSpPr>
          <a:xfrm rot="0">
            <a:off x="17895582" y="7350098"/>
            <a:ext cx="392418" cy="2184427"/>
            <a:chOff x="0" y="0"/>
            <a:chExt cx="523224" cy="2912570"/>
          </a:xfrm>
        </p:grpSpPr>
        <p:sp>
          <p:nvSpPr>
            <p:cNvPr name="Freeform 11" id="11"/>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AutoShape 12" id="12"/>
          <p:cNvSpPr/>
          <p:nvPr/>
        </p:nvSpPr>
        <p:spPr>
          <a:xfrm>
            <a:off x="10767455" y="2899867"/>
            <a:ext cx="9525" cy="6396605"/>
          </a:xfrm>
          <a:prstGeom prst="line">
            <a:avLst/>
          </a:prstGeom>
          <a:ln cap="rnd" w="9525">
            <a:solidFill>
              <a:srgbClr val="FFFFFF"/>
            </a:solidFill>
            <a:prstDash val="solid"/>
            <a:headEnd type="none" len="sm" w="sm"/>
            <a:tailEnd type="none" len="sm" w="sm"/>
          </a:ln>
        </p:spPr>
      </p:sp>
      <p:grpSp>
        <p:nvGrpSpPr>
          <p:cNvPr name="Group 13" id="13"/>
          <p:cNvGrpSpPr>
            <a:grpSpLocks noChangeAspect="true"/>
          </p:cNvGrpSpPr>
          <p:nvPr/>
        </p:nvGrpSpPr>
        <p:grpSpPr>
          <a:xfrm rot="0">
            <a:off x="7671027" y="9891408"/>
            <a:ext cx="2926896" cy="220267"/>
            <a:chOff x="0" y="0"/>
            <a:chExt cx="3902528" cy="293690"/>
          </a:xfrm>
        </p:grpSpPr>
        <p:sp>
          <p:nvSpPr>
            <p:cNvPr name="Freeform 14" id="14"/>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4"/>
              <a:stretch>
                <a:fillRect l="0" t="0" r="1" b="20"/>
              </a:stretch>
            </a:blipFill>
          </p:spPr>
        </p:sp>
      </p:grpSp>
      <p:grpSp>
        <p:nvGrpSpPr>
          <p:cNvPr name="Group 15" id="15"/>
          <p:cNvGrpSpPr/>
          <p:nvPr/>
        </p:nvGrpSpPr>
        <p:grpSpPr>
          <a:xfrm rot="0">
            <a:off x="1750114" y="1323846"/>
            <a:ext cx="14873286" cy="1281120"/>
            <a:chOff x="0" y="0"/>
            <a:chExt cx="19831048" cy="1708160"/>
          </a:xfrm>
        </p:grpSpPr>
        <p:sp>
          <p:nvSpPr>
            <p:cNvPr name="Freeform 16" id="16"/>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7" id="17"/>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Data Insertion (Insert Statements)</a:t>
              </a:r>
            </a:p>
          </p:txBody>
        </p:sp>
      </p:grpSp>
      <p:sp>
        <p:nvSpPr>
          <p:cNvPr name="Freeform 18" id="18"/>
          <p:cNvSpPr/>
          <p:nvPr/>
        </p:nvSpPr>
        <p:spPr>
          <a:xfrm flipH="false" flipV="false" rot="0">
            <a:off x="425571" y="2667609"/>
            <a:ext cx="9768118" cy="1446875"/>
          </a:xfrm>
          <a:custGeom>
            <a:avLst/>
            <a:gdLst/>
            <a:ahLst/>
            <a:cxnLst/>
            <a:rect r="r" b="b" t="t" l="l"/>
            <a:pathLst>
              <a:path h="1446875" w="9768118">
                <a:moveTo>
                  <a:pt x="0" y="0"/>
                </a:moveTo>
                <a:lnTo>
                  <a:pt x="9768119" y="0"/>
                </a:lnTo>
                <a:lnTo>
                  <a:pt x="9768119" y="1446875"/>
                </a:lnTo>
                <a:lnTo>
                  <a:pt x="0" y="1446875"/>
                </a:lnTo>
                <a:lnTo>
                  <a:pt x="0" y="0"/>
                </a:lnTo>
                <a:close/>
              </a:path>
            </a:pathLst>
          </a:custGeom>
          <a:blipFill>
            <a:blip r:embed="rId5"/>
            <a:stretch>
              <a:fillRect l="0" t="0" r="-2856" b="-1334"/>
            </a:stretch>
          </a:blipFill>
        </p:spPr>
      </p:sp>
      <p:sp>
        <p:nvSpPr>
          <p:cNvPr name="Freeform 19" id="19"/>
          <p:cNvSpPr/>
          <p:nvPr/>
        </p:nvSpPr>
        <p:spPr>
          <a:xfrm flipH="false" flipV="false" rot="0">
            <a:off x="425571" y="4687131"/>
            <a:ext cx="5737681" cy="1505714"/>
          </a:xfrm>
          <a:custGeom>
            <a:avLst/>
            <a:gdLst/>
            <a:ahLst/>
            <a:cxnLst/>
            <a:rect r="r" b="b" t="t" l="l"/>
            <a:pathLst>
              <a:path h="1505714" w="5737681">
                <a:moveTo>
                  <a:pt x="0" y="0"/>
                </a:moveTo>
                <a:lnTo>
                  <a:pt x="5737682" y="0"/>
                </a:lnTo>
                <a:lnTo>
                  <a:pt x="5737682" y="1505714"/>
                </a:lnTo>
                <a:lnTo>
                  <a:pt x="0" y="1505714"/>
                </a:lnTo>
                <a:lnTo>
                  <a:pt x="0" y="0"/>
                </a:lnTo>
                <a:close/>
              </a:path>
            </a:pathLst>
          </a:custGeom>
          <a:blipFill>
            <a:blip r:embed="rId6"/>
            <a:stretch>
              <a:fillRect l="0" t="0" r="0" b="0"/>
            </a:stretch>
          </a:blipFill>
        </p:spPr>
      </p:sp>
      <p:sp>
        <p:nvSpPr>
          <p:cNvPr name="Freeform 20" id="20"/>
          <p:cNvSpPr/>
          <p:nvPr/>
        </p:nvSpPr>
        <p:spPr>
          <a:xfrm flipH="false" flipV="false" rot="0">
            <a:off x="425571" y="8130879"/>
            <a:ext cx="5204823" cy="1403646"/>
          </a:xfrm>
          <a:custGeom>
            <a:avLst/>
            <a:gdLst/>
            <a:ahLst/>
            <a:cxnLst/>
            <a:rect r="r" b="b" t="t" l="l"/>
            <a:pathLst>
              <a:path h="1403646" w="5204823">
                <a:moveTo>
                  <a:pt x="0" y="0"/>
                </a:moveTo>
                <a:lnTo>
                  <a:pt x="5204823" y="0"/>
                </a:lnTo>
                <a:lnTo>
                  <a:pt x="5204823" y="1403646"/>
                </a:lnTo>
                <a:lnTo>
                  <a:pt x="0" y="1403646"/>
                </a:lnTo>
                <a:lnTo>
                  <a:pt x="0" y="0"/>
                </a:lnTo>
                <a:close/>
              </a:path>
            </a:pathLst>
          </a:custGeom>
          <a:blipFill>
            <a:blip r:embed="rId7"/>
            <a:stretch>
              <a:fillRect l="0" t="0" r="0" b="0"/>
            </a:stretch>
          </a:blipFill>
        </p:spPr>
      </p:sp>
      <p:sp>
        <p:nvSpPr>
          <p:cNvPr name="Freeform 21" id="21"/>
          <p:cNvSpPr/>
          <p:nvPr/>
        </p:nvSpPr>
        <p:spPr>
          <a:xfrm flipH="false" flipV="false" rot="0">
            <a:off x="425571" y="6328758"/>
            <a:ext cx="5991012" cy="1377039"/>
          </a:xfrm>
          <a:custGeom>
            <a:avLst/>
            <a:gdLst/>
            <a:ahLst/>
            <a:cxnLst/>
            <a:rect r="r" b="b" t="t" l="l"/>
            <a:pathLst>
              <a:path h="1377039" w="5991012">
                <a:moveTo>
                  <a:pt x="0" y="0"/>
                </a:moveTo>
                <a:lnTo>
                  <a:pt x="5991012" y="0"/>
                </a:lnTo>
                <a:lnTo>
                  <a:pt x="5991012" y="1377039"/>
                </a:lnTo>
                <a:lnTo>
                  <a:pt x="0" y="1377039"/>
                </a:lnTo>
                <a:lnTo>
                  <a:pt x="0" y="0"/>
                </a:lnTo>
                <a:close/>
              </a:path>
            </a:pathLst>
          </a:custGeom>
          <a:blipFill>
            <a:blip r:embed="rId8"/>
            <a:stretch>
              <a:fillRect l="0" t="0" r="0" b="0"/>
            </a:stretch>
          </a:blipFill>
        </p:spPr>
      </p:sp>
      <p:sp>
        <p:nvSpPr>
          <p:cNvPr name="Freeform 22" id="22"/>
          <p:cNvSpPr/>
          <p:nvPr/>
        </p:nvSpPr>
        <p:spPr>
          <a:xfrm flipH="false" flipV="false" rot="0">
            <a:off x="6819089" y="6149880"/>
            <a:ext cx="8709280" cy="1440951"/>
          </a:xfrm>
          <a:custGeom>
            <a:avLst/>
            <a:gdLst/>
            <a:ahLst/>
            <a:cxnLst/>
            <a:rect r="r" b="b" t="t" l="l"/>
            <a:pathLst>
              <a:path h="1440951" w="8709280">
                <a:moveTo>
                  <a:pt x="0" y="0"/>
                </a:moveTo>
                <a:lnTo>
                  <a:pt x="8709280" y="0"/>
                </a:lnTo>
                <a:lnTo>
                  <a:pt x="8709280" y="1440951"/>
                </a:lnTo>
                <a:lnTo>
                  <a:pt x="0" y="1440951"/>
                </a:lnTo>
                <a:lnTo>
                  <a:pt x="0" y="0"/>
                </a:lnTo>
                <a:close/>
              </a:path>
            </a:pathLst>
          </a:custGeom>
          <a:blipFill>
            <a:blip r:embed="rId9"/>
            <a:stretch>
              <a:fillRect l="0" t="0" r="0" b="0"/>
            </a:stretch>
          </a:blipFill>
        </p:spPr>
      </p:sp>
      <p:sp>
        <p:nvSpPr>
          <p:cNvPr name="Freeform 23" id="23"/>
          <p:cNvSpPr/>
          <p:nvPr/>
        </p:nvSpPr>
        <p:spPr>
          <a:xfrm flipH="false" flipV="false" rot="0">
            <a:off x="6874150" y="7695606"/>
            <a:ext cx="7608155" cy="1488066"/>
          </a:xfrm>
          <a:custGeom>
            <a:avLst/>
            <a:gdLst/>
            <a:ahLst/>
            <a:cxnLst/>
            <a:rect r="r" b="b" t="t" l="l"/>
            <a:pathLst>
              <a:path h="1488066" w="7608155">
                <a:moveTo>
                  <a:pt x="0" y="0"/>
                </a:moveTo>
                <a:lnTo>
                  <a:pt x="7608154" y="0"/>
                </a:lnTo>
                <a:lnTo>
                  <a:pt x="7608154" y="1488066"/>
                </a:lnTo>
                <a:lnTo>
                  <a:pt x="0" y="1488066"/>
                </a:lnTo>
                <a:lnTo>
                  <a:pt x="0" y="0"/>
                </a:lnTo>
                <a:close/>
              </a:path>
            </a:pathLst>
          </a:custGeom>
          <a:blipFill>
            <a:blip r:embed="rId10"/>
            <a:stretch>
              <a:fillRect l="0" t="0" r="0" b="0"/>
            </a:stretch>
          </a:blipFill>
        </p:spPr>
      </p:sp>
      <p:sp>
        <p:nvSpPr>
          <p:cNvPr name="TextBox 24" id="24"/>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25" id="25"/>
          <p:cNvSpPr txBox="true"/>
          <p:nvPr/>
        </p:nvSpPr>
        <p:spPr>
          <a:xfrm rot="0">
            <a:off x="10418739" y="2644322"/>
            <a:ext cx="7476843" cy="2823228"/>
          </a:xfrm>
          <a:prstGeom prst="rect">
            <a:avLst/>
          </a:prstGeom>
        </p:spPr>
        <p:txBody>
          <a:bodyPr anchor="t" rtlCol="false" tIns="0" lIns="0" bIns="0" rIns="0">
            <a:spAutoFit/>
          </a:bodyPr>
          <a:lstStyle/>
          <a:p>
            <a:pPr algn="just">
              <a:lnSpc>
                <a:spcPts val="3224"/>
              </a:lnSpc>
            </a:pPr>
            <a:r>
              <a:rPr lang="en-US" sz="2149">
                <a:solidFill>
                  <a:srgbClr val="000000"/>
                </a:solidFill>
                <a:latin typeface="Calibri (MS)"/>
                <a:ea typeface="Calibri (MS)"/>
                <a:cs typeface="Calibri (MS)"/>
                <a:sym typeface="Calibri (MS)"/>
              </a:rPr>
              <a:t>1) Inserted sample data into all main tables: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customers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rooms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reservations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payments</a:t>
            </a:r>
          </a:p>
          <a:p>
            <a:pPr algn="just">
              <a:lnSpc>
                <a:spcPts val="3224"/>
              </a:lnSpc>
            </a:pPr>
            <a:r>
              <a:rPr lang="en-US" sz="2149">
                <a:solidFill>
                  <a:srgbClr val="000000"/>
                </a:solidFill>
                <a:latin typeface="Calibri (MS)"/>
                <a:ea typeface="Calibri (MS)"/>
                <a:cs typeface="Calibri (MS)"/>
                <a:sym typeface="Calibri (MS)"/>
              </a:rPr>
              <a:t>2) </a:t>
            </a:r>
            <a:r>
              <a:rPr lang="en-US" sz="2149">
                <a:solidFill>
                  <a:srgbClr val="000000"/>
                </a:solidFill>
                <a:latin typeface="Calibri (MS)"/>
                <a:ea typeface="Calibri (MS)"/>
                <a:cs typeface="Calibri (MS)"/>
                <a:sym typeface="Calibri (MS)"/>
              </a:rPr>
              <a:t>Ensured foreign key order to avoid constraint errors.</a:t>
            </a:r>
          </a:p>
          <a:p>
            <a:pPr algn="just">
              <a:lnSpc>
                <a:spcPts val="3224"/>
              </a:lnSpc>
            </a:pPr>
            <a:r>
              <a:rPr lang="en-US" sz="2149">
                <a:solidFill>
                  <a:srgbClr val="000000"/>
                </a:solidFill>
                <a:latin typeface="Calibri (MS)"/>
                <a:ea typeface="Calibri (MS)"/>
                <a:cs typeface="Calibri (MS)"/>
                <a:sym typeface="Calibri (MS)"/>
              </a:rPr>
              <a:t>3) </a:t>
            </a:r>
            <a:r>
              <a:rPr lang="en-US" sz="2149">
                <a:solidFill>
                  <a:srgbClr val="000000"/>
                </a:solidFill>
                <a:latin typeface="Calibri (MS)"/>
                <a:ea typeface="Calibri (MS)"/>
                <a:cs typeface="Calibri (MS)"/>
                <a:sym typeface="Calibri (MS)"/>
              </a:rPr>
              <a:t>Created realistic data for testing queries and system workflows.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p:nvPr/>
        </p:nvGrpSpPr>
        <p:grpSpPr>
          <a:xfrm rot="0">
            <a:off x="5841632" y="32146"/>
            <a:ext cx="6690252" cy="384760"/>
            <a:chOff x="0" y="0"/>
            <a:chExt cx="8920336" cy="513014"/>
          </a:xfrm>
        </p:grpSpPr>
        <p:sp>
          <p:nvSpPr>
            <p:cNvPr name="Freeform 5" id="5"/>
            <p:cNvSpPr/>
            <p:nvPr/>
          </p:nvSpPr>
          <p:spPr>
            <a:xfrm flipH="false" flipV="false" rot="0">
              <a:off x="0" y="0"/>
              <a:ext cx="8920353" cy="512953"/>
            </a:xfrm>
            <a:custGeom>
              <a:avLst/>
              <a:gdLst/>
              <a:ahLst/>
              <a:cxnLst/>
              <a:rect r="r" b="b" t="t" l="l"/>
              <a:pathLst>
                <a:path h="512953" w="8920353">
                  <a:moveTo>
                    <a:pt x="0" y="0"/>
                  </a:moveTo>
                  <a:lnTo>
                    <a:pt x="8920353" y="0"/>
                  </a:lnTo>
                  <a:lnTo>
                    <a:pt x="8920353" y="512953"/>
                  </a:lnTo>
                  <a:lnTo>
                    <a:pt x="0" y="512953"/>
                  </a:lnTo>
                  <a:close/>
                </a:path>
              </a:pathLst>
            </a:custGeom>
            <a:solidFill>
              <a:srgbClr val="6C1D35"/>
            </a:solidFill>
          </p:spPr>
        </p:sp>
      </p:grpSp>
      <p:grpSp>
        <p:nvGrpSpPr>
          <p:cNvPr name="Group 6" id="6"/>
          <p:cNvGrpSpPr>
            <a:grpSpLocks noChangeAspect="true"/>
          </p:cNvGrpSpPr>
          <p:nvPr/>
        </p:nvGrpSpPr>
        <p:grpSpPr>
          <a:xfrm rot="0">
            <a:off x="15718317" y="425385"/>
            <a:ext cx="2202251" cy="746192"/>
            <a:chOff x="0" y="0"/>
            <a:chExt cx="2936334" cy="994922"/>
          </a:xfrm>
        </p:grpSpPr>
        <p:sp>
          <p:nvSpPr>
            <p:cNvPr name="Freeform 7" id="7"/>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8" id="8"/>
          <p:cNvGrpSpPr/>
          <p:nvPr/>
        </p:nvGrpSpPr>
        <p:grpSpPr>
          <a:xfrm rot="0">
            <a:off x="-19050" y="10212993"/>
            <a:ext cx="18373520" cy="163459"/>
            <a:chOff x="0" y="0"/>
            <a:chExt cx="24498026" cy="217946"/>
          </a:xfrm>
        </p:grpSpPr>
        <p:sp>
          <p:nvSpPr>
            <p:cNvPr name="Freeform 9" id="9"/>
            <p:cNvSpPr/>
            <p:nvPr/>
          </p:nvSpPr>
          <p:spPr>
            <a:xfrm flipH="false" flipV="false" rot="0">
              <a:off x="0" y="0"/>
              <a:ext cx="24498046" cy="217932"/>
            </a:xfrm>
            <a:custGeom>
              <a:avLst/>
              <a:gdLst/>
              <a:ahLst/>
              <a:cxnLst/>
              <a:rect r="r" b="b" t="t" l="l"/>
              <a:pathLst>
                <a:path h="217932" w="24498046">
                  <a:moveTo>
                    <a:pt x="0" y="0"/>
                  </a:moveTo>
                  <a:lnTo>
                    <a:pt x="24498046" y="0"/>
                  </a:lnTo>
                  <a:lnTo>
                    <a:pt x="24498046" y="217932"/>
                  </a:lnTo>
                  <a:lnTo>
                    <a:pt x="0" y="217932"/>
                  </a:lnTo>
                  <a:close/>
                </a:path>
              </a:pathLst>
            </a:custGeom>
            <a:solidFill>
              <a:srgbClr val="D9D9D9"/>
            </a:solidFill>
          </p:spPr>
        </p:sp>
      </p:grpSp>
      <p:grpSp>
        <p:nvGrpSpPr>
          <p:cNvPr name="Group 10" id="10"/>
          <p:cNvGrpSpPr/>
          <p:nvPr/>
        </p:nvGrpSpPr>
        <p:grpSpPr>
          <a:xfrm rot="0">
            <a:off x="17895582" y="7350098"/>
            <a:ext cx="392418" cy="2184427"/>
            <a:chOff x="0" y="0"/>
            <a:chExt cx="523224" cy="2912570"/>
          </a:xfrm>
        </p:grpSpPr>
        <p:sp>
          <p:nvSpPr>
            <p:cNvPr name="Freeform 11" id="11"/>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AutoShape 12" id="12"/>
          <p:cNvSpPr/>
          <p:nvPr/>
        </p:nvSpPr>
        <p:spPr>
          <a:xfrm>
            <a:off x="10767455" y="2899867"/>
            <a:ext cx="9525" cy="6396605"/>
          </a:xfrm>
          <a:prstGeom prst="line">
            <a:avLst/>
          </a:prstGeom>
          <a:ln cap="rnd" w="9525">
            <a:solidFill>
              <a:srgbClr val="FFFFFF"/>
            </a:solidFill>
            <a:prstDash val="solid"/>
            <a:headEnd type="none" len="sm" w="sm"/>
            <a:tailEnd type="none" len="sm" w="sm"/>
          </a:ln>
        </p:spPr>
      </p:sp>
      <p:grpSp>
        <p:nvGrpSpPr>
          <p:cNvPr name="Group 13" id="13"/>
          <p:cNvGrpSpPr>
            <a:grpSpLocks noChangeAspect="true"/>
          </p:cNvGrpSpPr>
          <p:nvPr/>
        </p:nvGrpSpPr>
        <p:grpSpPr>
          <a:xfrm rot="0">
            <a:off x="7671027" y="9891408"/>
            <a:ext cx="2926896" cy="220267"/>
            <a:chOff x="0" y="0"/>
            <a:chExt cx="3902528" cy="293690"/>
          </a:xfrm>
        </p:grpSpPr>
        <p:sp>
          <p:nvSpPr>
            <p:cNvPr name="Freeform 14" id="14"/>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4"/>
              <a:stretch>
                <a:fillRect l="0" t="0" r="1" b="20"/>
              </a:stretch>
            </a:blipFill>
          </p:spPr>
        </p:sp>
      </p:grpSp>
      <p:grpSp>
        <p:nvGrpSpPr>
          <p:cNvPr name="Group 15" id="15"/>
          <p:cNvGrpSpPr/>
          <p:nvPr/>
        </p:nvGrpSpPr>
        <p:grpSpPr>
          <a:xfrm rot="0">
            <a:off x="1750114" y="1323846"/>
            <a:ext cx="14873286" cy="1281120"/>
            <a:chOff x="0" y="0"/>
            <a:chExt cx="19831048" cy="1708160"/>
          </a:xfrm>
        </p:grpSpPr>
        <p:sp>
          <p:nvSpPr>
            <p:cNvPr name="Freeform 16" id="16"/>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7" id="17"/>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Updating Existing Data (UPDATE Statements)</a:t>
              </a:r>
            </a:p>
          </p:txBody>
        </p:sp>
      </p:grpSp>
      <p:sp>
        <p:nvSpPr>
          <p:cNvPr name="Freeform 18" id="18"/>
          <p:cNvSpPr/>
          <p:nvPr/>
        </p:nvSpPr>
        <p:spPr>
          <a:xfrm flipH="false" flipV="false" rot="0">
            <a:off x="1028700" y="2899867"/>
            <a:ext cx="7930393" cy="2195420"/>
          </a:xfrm>
          <a:custGeom>
            <a:avLst/>
            <a:gdLst/>
            <a:ahLst/>
            <a:cxnLst/>
            <a:rect r="r" b="b" t="t" l="l"/>
            <a:pathLst>
              <a:path h="2195420" w="7930393">
                <a:moveTo>
                  <a:pt x="0" y="0"/>
                </a:moveTo>
                <a:lnTo>
                  <a:pt x="7930393" y="0"/>
                </a:lnTo>
                <a:lnTo>
                  <a:pt x="7930393" y="2195419"/>
                </a:lnTo>
                <a:lnTo>
                  <a:pt x="0" y="2195419"/>
                </a:lnTo>
                <a:lnTo>
                  <a:pt x="0" y="0"/>
                </a:lnTo>
                <a:close/>
              </a:path>
            </a:pathLst>
          </a:custGeom>
          <a:blipFill>
            <a:blip r:embed="rId5"/>
            <a:stretch>
              <a:fillRect l="0" t="0" r="0" b="0"/>
            </a:stretch>
          </a:blipFill>
        </p:spPr>
      </p:sp>
      <p:sp>
        <p:nvSpPr>
          <p:cNvPr name="Freeform 19" id="19"/>
          <p:cNvSpPr/>
          <p:nvPr/>
        </p:nvSpPr>
        <p:spPr>
          <a:xfrm flipH="false" flipV="false" rot="0">
            <a:off x="1129875" y="6451519"/>
            <a:ext cx="8428624" cy="2405241"/>
          </a:xfrm>
          <a:custGeom>
            <a:avLst/>
            <a:gdLst/>
            <a:ahLst/>
            <a:cxnLst/>
            <a:rect r="r" b="b" t="t" l="l"/>
            <a:pathLst>
              <a:path h="2405241" w="8428624">
                <a:moveTo>
                  <a:pt x="0" y="0"/>
                </a:moveTo>
                <a:lnTo>
                  <a:pt x="8428624" y="0"/>
                </a:lnTo>
                <a:lnTo>
                  <a:pt x="8428624" y="2405241"/>
                </a:lnTo>
                <a:lnTo>
                  <a:pt x="0" y="2405241"/>
                </a:lnTo>
                <a:lnTo>
                  <a:pt x="0" y="0"/>
                </a:lnTo>
                <a:close/>
              </a:path>
            </a:pathLst>
          </a:custGeom>
          <a:blipFill>
            <a:blip r:embed="rId6"/>
            <a:stretch>
              <a:fillRect l="0" t="0" r="0" b="0"/>
            </a:stretch>
          </a:blipFill>
        </p:spPr>
      </p:sp>
      <p:sp>
        <p:nvSpPr>
          <p:cNvPr name="TextBox 20" id="20"/>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21" id="21"/>
          <p:cNvSpPr txBox="true"/>
          <p:nvPr/>
        </p:nvSpPr>
        <p:spPr>
          <a:xfrm rot="0">
            <a:off x="10139704" y="2795092"/>
            <a:ext cx="7476843" cy="2023128"/>
          </a:xfrm>
          <a:prstGeom prst="rect">
            <a:avLst/>
          </a:prstGeom>
        </p:spPr>
        <p:txBody>
          <a:bodyPr anchor="t" rtlCol="false" tIns="0" lIns="0" bIns="0" rIns="0">
            <a:spAutoFit/>
          </a:bodyPr>
          <a:lstStyle/>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Updated certain values to correct data inconsistencies.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Demonstrated how the system handles changes after records are created.</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Used WHERE clause to avoid updating unintended rows.</a:t>
            </a:r>
          </a:p>
          <a:p>
            <a:pPr algn="just">
              <a:lnSpc>
                <a:spcPts val="322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p:nvPr/>
        </p:nvGrpSpPr>
        <p:grpSpPr>
          <a:xfrm rot="0">
            <a:off x="5841632" y="32146"/>
            <a:ext cx="6690252" cy="384760"/>
            <a:chOff x="0" y="0"/>
            <a:chExt cx="8920336" cy="513014"/>
          </a:xfrm>
        </p:grpSpPr>
        <p:sp>
          <p:nvSpPr>
            <p:cNvPr name="Freeform 5" id="5"/>
            <p:cNvSpPr/>
            <p:nvPr/>
          </p:nvSpPr>
          <p:spPr>
            <a:xfrm flipH="false" flipV="false" rot="0">
              <a:off x="0" y="0"/>
              <a:ext cx="8920353" cy="512953"/>
            </a:xfrm>
            <a:custGeom>
              <a:avLst/>
              <a:gdLst/>
              <a:ahLst/>
              <a:cxnLst/>
              <a:rect r="r" b="b" t="t" l="l"/>
              <a:pathLst>
                <a:path h="512953" w="8920353">
                  <a:moveTo>
                    <a:pt x="0" y="0"/>
                  </a:moveTo>
                  <a:lnTo>
                    <a:pt x="8920353" y="0"/>
                  </a:lnTo>
                  <a:lnTo>
                    <a:pt x="8920353" y="512953"/>
                  </a:lnTo>
                  <a:lnTo>
                    <a:pt x="0" y="512953"/>
                  </a:lnTo>
                  <a:close/>
                </a:path>
              </a:pathLst>
            </a:custGeom>
            <a:solidFill>
              <a:srgbClr val="6C1D35"/>
            </a:solidFill>
          </p:spPr>
        </p:sp>
      </p:grpSp>
      <p:grpSp>
        <p:nvGrpSpPr>
          <p:cNvPr name="Group 6" id="6"/>
          <p:cNvGrpSpPr>
            <a:grpSpLocks noChangeAspect="true"/>
          </p:cNvGrpSpPr>
          <p:nvPr/>
        </p:nvGrpSpPr>
        <p:grpSpPr>
          <a:xfrm rot="0">
            <a:off x="15718317" y="425385"/>
            <a:ext cx="2202251" cy="746192"/>
            <a:chOff x="0" y="0"/>
            <a:chExt cx="2936334" cy="994922"/>
          </a:xfrm>
        </p:grpSpPr>
        <p:sp>
          <p:nvSpPr>
            <p:cNvPr name="Freeform 7" id="7"/>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8" id="8"/>
          <p:cNvGrpSpPr/>
          <p:nvPr/>
        </p:nvGrpSpPr>
        <p:grpSpPr>
          <a:xfrm rot="0">
            <a:off x="-19050" y="10212993"/>
            <a:ext cx="18373520" cy="163459"/>
            <a:chOff x="0" y="0"/>
            <a:chExt cx="24498026" cy="217946"/>
          </a:xfrm>
        </p:grpSpPr>
        <p:sp>
          <p:nvSpPr>
            <p:cNvPr name="Freeform 9" id="9"/>
            <p:cNvSpPr/>
            <p:nvPr/>
          </p:nvSpPr>
          <p:spPr>
            <a:xfrm flipH="false" flipV="false" rot="0">
              <a:off x="0" y="0"/>
              <a:ext cx="24498046" cy="217932"/>
            </a:xfrm>
            <a:custGeom>
              <a:avLst/>
              <a:gdLst/>
              <a:ahLst/>
              <a:cxnLst/>
              <a:rect r="r" b="b" t="t" l="l"/>
              <a:pathLst>
                <a:path h="217932" w="24498046">
                  <a:moveTo>
                    <a:pt x="0" y="0"/>
                  </a:moveTo>
                  <a:lnTo>
                    <a:pt x="24498046" y="0"/>
                  </a:lnTo>
                  <a:lnTo>
                    <a:pt x="24498046" y="217932"/>
                  </a:lnTo>
                  <a:lnTo>
                    <a:pt x="0" y="217932"/>
                  </a:lnTo>
                  <a:close/>
                </a:path>
              </a:pathLst>
            </a:custGeom>
            <a:solidFill>
              <a:srgbClr val="D9D9D9"/>
            </a:solidFill>
          </p:spPr>
        </p:sp>
      </p:grpSp>
      <p:grpSp>
        <p:nvGrpSpPr>
          <p:cNvPr name="Group 10" id="10"/>
          <p:cNvGrpSpPr/>
          <p:nvPr/>
        </p:nvGrpSpPr>
        <p:grpSpPr>
          <a:xfrm rot="0">
            <a:off x="17895582" y="7350098"/>
            <a:ext cx="392418" cy="2184427"/>
            <a:chOff x="0" y="0"/>
            <a:chExt cx="523224" cy="2912570"/>
          </a:xfrm>
        </p:grpSpPr>
        <p:sp>
          <p:nvSpPr>
            <p:cNvPr name="Freeform 11" id="11"/>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AutoShape 12" id="12"/>
          <p:cNvSpPr/>
          <p:nvPr/>
        </p:nvSpPr>
        <p:spPr>
          <a:xfrm>
            <a:off x="10767455" y="2899867"/>
            <a:ext cx="9525" cy="6396605"/>
          </a:xfrm>
          <a:prstGeom prst="line">
            <a:avLst/>
          </a:prstGeom>
          <a:ln cap="rnd" w="9525">
            <a:solidFill>
              <a:srgbClr val="FFFFFF"/>
            </a:solidFill>
            <a:prstDash val="solid"/>
            <a:headEnd type="none" len="sm" w="sm"/>
            <a:tailEnd type="none" len="sm" w="sm"/>
          </a:ln>
        </p:spPr>
      </p:sp>
      <p:grpSp>
        <p:nvGrpSpPr>
          <p:cNvPr name="Group 13" id="13"/>
          <p:cNvGrpSpPr>
            <a:grpSpLocks noChangeAspect="true"/>
          </p:cNvGrpSpPr>
          <p:nvPr/>
        </p:nvGrpSpPr>
        <p:grpSpPr>
          <a:xfrm rot="0">
            <a:off x="7671027" y="9891408"/>
            <a:ext cx="2926896" cy="220267"/>
            <a:chOff x="0" y="0"/>
            <a:chExt cx="3902528" cy="293690"/>
          </a:xfrm>
        </p:grpSpPr>
        <p:sp>
          <p:nvSpPr>
            <p:cNvPr name="Freeform 14" id="14"/>
            <p:cNvSpPr/>
            <p:nvPr/>
          </p:nvSpPr>
          <p:spPr>
            <a:xfrm flipH="false" flipV="false" rot="0">
              <a:off x="0" y="0"/>
              <a:ext cx="3902583" cy="293751"/>
            </a:xfrm>
            <a:custGeom>
              <a:avLst/>
              <a:gdLst/>
              <a:ahLst/>
              <a:cxnLst/>
              <a:rect r="r" b="b" t="t" l="l"/>
              <a:pathLst>
                <a:path h="293751" w="3902583">
                  <a:moveTo>
                    <a:pt x="0" y="0"/>
                  </a:moveTo>
                  <a:lnTo>
                    <a:pt x="3902583" y="0"/>
                  </a:lnTo>
                  <a:lnTo>
                    <a:pt x="3902583" y="293751"/>
                  </a:lnTo>
                  <a:lnTo>
                    <a:pt x="0" y="293751"/>
                  </a:lnTo>
                  <a:lnTo>
                    <a:pt x="0" y="0"/>
                  </a:lnTo>
                  <a:close/>
                </a:path>
              </a:pathLst>
            </a:custGeom>
            <a:blipFill>
              <a:blip r:embed="rId4"/>
              <a:stretch>
                <a:fillRect l="0" t="0" r="1" b="20"/>
              </a:stretch>
            </a:blipFill>
          </p:spPr>
        </p:sp>
      </p:grpSp>
      <p:grpSp>
        <p:nvGrpSpPr>
          <p:cNvPr name="Group 15" id="15"/>
          <p:cNvGrpSpPr/>
          <p:nvPr/>
        </p:nvGrpSpPr>
        <p:grpSpPr>
          <a:xfrm rot="0">
            <a:off x="1750114" y="1323846"/>
            <a:ext cx="14873286" cy="1281120"/>
            <a:chOff x="0" y="0"/>
            <a:chExt cx="19831048" cy="1708160"/>
          </a:xfrm>
        </p:grpSpPr>
        <p:sp>
          <p:nvSpPr>
            <p:cNvPr name="Freeform 16" id="16"/>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7" id="17"/>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 Deleting Data (DELETE Statements)</a:t>
              </a:r>
            </a:p>
          </p:txBody>
        </p:sp>
      </p:grpSp>
      <p:sp>
        <p:nvSpPr>
          <p:cNvPr name="Freeform 18" id="18"/>
          <p:cNvSpPr/>
          <p:nvPr/>
        </p:nvSpPr>
        <p:spPr>
          <a:xfrm flipH="false" flipV="false" rot="0">
            <a:off x="759649" y="3068124"/>
            <a:ext cx="7572955" cy="5371515"/>
          </a:xfrm>
          <a:custGeom>
            <a:avLst/>
            <a:gdLst/>
            <a:ahLst/>
            <a:cxnLst/>
            <a:rect r="r" b="b" t="t" l="l"/>
            <a:pathLst>
              <a:path h="5371515" w="7572955">
                <a:moveTo>
                  <a:pt x="0" y="0"/>
                </a:moveTo>
                <a:lnTo>
                  <a:pt x="7572955" y="0"/>
                </a:lnTo>
                <a:lnTo>
                  <a:pt x="7572955" y="5371515"/>
                </a:lnTo>
                <a:lnTo>
                  <a:pt x="0" y="5371515"/>
                </a:lnTo>
                <a:lnTo>
                  <a:pt x="0" y="0"/>
                </a:lnTo>
                <a:close/>
              </a:path>
            </a:pathLst>
          </a:custGeom>
          <a:blipFill>
            <a:blip r:embed="rId5"/>
            <a:stretch>
              <a:fillRect l="0" t="0" r="0" b="0"/>
            </a:stretch>
          </a:blipFill>
        </p:spPr>
      </p:sp>
      <p:sp>
        <p:nvSpPr>
          <p:cNvPr name="TextBox 19" id="19"/>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20" id="20"/>
          <p:cNvSpPr txBox="true"/>
          <p:nvPr/>
        </p:nvSpPr>
        <p:spPr>
          <a:xfrm rot="0">
            <a:off x="9342600" y="2963349"/>
            <a:ext cx="7476843" cy="2023128"/>
          </a:xfrm>
          <a:prstGeom prst="rect">
            <a:avLst/>
          </a:prstGeom>
        </p:spPr>
        <p:txBody>
          <a:bodyPr anchor="t" rtlCol="false" tIns="0" lIns="0" bIns="0" rIns="0">
            <a:spAutoFit/>
          </a:bodyPr>
          <a:lstStyle/>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Demonstrated deletion of outdated or invalid records.</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Carefully used conditions to avoid accidental full-table deletion.</a:t>
            </a:r>
          </a:p>
          <a:p>
            <a:pPr algn="just" marL="464082" indent="-232041" lvl="1">
              <a:lnSpc>
                <a:spcPts val="3224"/>
              </a:lnSpc>
              <a:buFont typeface="Arial"/>
              <a:buChar char="•"/>
            </a:pPr>
            <a:r>
              <a:rPr lang="en-US" sz="2149">
                <a:solidFill>
                  <a:srgbClr val="000000"/>
                </a:solidFill>
                <a:latin typeface="Calibri (MS)"/>
                <a:ea typeface="Calibri (MS)"/>
                <a:cs typeface="Calibri (MS)"/>
                <a:sym typeface="Calibri (MS)"/>
              </a:rPr>
              <a:t>Tested system behavior when linked records are removed.</a:t>
            </a:r>
          </a:p>
          <a:p>
            <a:pPr algn="just">
              <a:lnSpc>
                <a:spcPts val="3224"/>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345150" cy="10287002"/>
            <a:chOff x="0" y="0"/>
            <a:chExt cx="24460200" cy="13716002"/>
          </a:xfrm>
        </p:grpSpPr>
        <p:sp>
          <p:nvSpPr>
            <p:cNvPr name="Freeform 3" id="3"/>
            <p:cNvSpPr/>
            <p:nvPr/>
          </p:nvSpPr>
          <p:spPr>
            <a:xfrm flipH="false" flipV="false" rot="0">
              <a:off x="0" y="0"/>
              <a:ext cx="24460200" cy="13716000"/>
            </a:xfrm>
            <a:custGeom>
              <a:avLst/>
              <a:gdLst/>
              <a:ahLst/>
              <a:cxnLst/>
              <a:rect r="r" b="b" t="t" l="l"/>
              <a:pathLst>
                <a:path h="13716000" w="24460200">
                  <a:moveTo>
                    <a:pt x="0" y="0"/>
                  </a:moveTo>
                  <a:lnTo>
                    <a:pt x="24460200" y="0"/>
                  </a:lnTo>
                  <a:lnTo>
                    <a:pt x="24460200" y="13716000"/>
                  </a:lnTo>
                  <a:lnTo>
                    <a:pt x="0" y="13716000"/>
                  </a:lnTo>
                  <a:close/>
                </a:path>
              </a:pathLst>
            </a:custGeom>
            <a:solidFill>
              <a:srgbClr val="6C1D35"/>
            </a:solidFill>
          </p:spPr>
        </p:sp>
      </p:grpSp>
      <p:grpSp>
        <p:nvGrpSpPr>
          <p:cNvPr name="Group 4" id="4"/>
          <p:cNvGrpSpPr>
            <a:grpSpLocks noChangeAspect="true"/>
          </p:cNvGrpSpPr>
          <p:nvPr/>
        </p:nvGrpSpPr>
        <p:grpSpPr>
          <a:xfrm rot="-5400000">
            <a:off x="4029075" y="-4029075"/>
            <a:ext cx="10287000" cy="18345150"/>
            <a:chOff x="0" y="0"/>
            <a:chExt cx="13716000" cy="24460200"/>
          </a:xfrm>
        </p:grpSpPr>
        <p:sp>
          <p:nvSpPr>
            <p:cNvPr name="Freeform 5" id="5"/>
            <p:cNvSpPr/>
            <p:nvPr/>
          </p:nvSpPr>
          <p:spPr>
            <a:xfrm flipH="false" flipV="false" rot="0">
              <a:off x="0" y="0"/>
              <a:ext cx="13716000" cy="24460200"/>
            </a:xfrm>
            <a:custGeom>
              <a:avLst/>
              <a:gdLst/>
              <a:ahLst/>
              <a:cxnLst/>
              <a:rect r="r" b="b" t="t" l="l"/>
              <a:pathLst>
                <a:path h="24460200" w="13716000">
                  <a:moveTo>
                    <a:pt x="0" y="0"/>
                  </a:moveTo>
                  <a:lnTo>
                    <a:pt x="13716000" y="0"/>
                  </a:lnTo>
                  <a:lnTo>
                    <a:pt x="13716000" y="24460200"/>
                  </a:lnTo>
                  <a:lnTo>
                    <a:pt x="0" y="24460200"/>
                  </a:lnTo>
                  <a:lnTo>
                    <a:pt x="0" y="0"/>
                  </a:lnTo>
                  <a:close/>
                </a:path>
              </a:pathLst>
            </a:custGeom>
            <a:blipFill>
              <a:blip r:embed="rId2">
                <a:alphaModFix amt="32000"/>
              </a:blip>
              <a:stretch>
                <a:fillRect l="-26019" t="0" r="0" b="0"/>
              </a:stretch>
            </a:blipFill>
          </p:spPr>
        </p:sp>
      </p:grpSp>
      <p:grpSp>
        <p:nvGrpSpPr>
          <p:cNvPr name="Group 6" id="6"/>
          <p:cNvGrpSpPr/>
          <p:nvPr/>
        </p:nvGrpSpPr>
        <p:grpSpPr>
          <a:xfrm rot="0">
            <a:off x="5469702" y="4381753"/>
            <a:ext cx="7060407" cy="1815294"/>
            <a:chOff x="0" y="0"/>
            <a:chExt cx="9413876" cy="2420392"/>
          </a:xfrm>
        </p:grpSpPr>
        <p:sp>
          <p:nvSpPr>
            <p:cNvPr name="Freeform 7" id="7"/>
            <p:cNvSpPr/>
            <p:nvPr/>
          </p:nvSpPr>
          <p:spPr>
            <a:xfrm flipH="false" flipV="false" rot="0">
              <a:off x="0" y="0"/>
              <a:ext cx="9413876" cy="2420392"/>
            </a:xfrm>
            <a:custGeom>
              <a:avLst/>
              <a:gdLst/>
              <a:ahLst/>
              <a:cxnLst/>
              <a:rect r="r" b="b" t="t" l="l"/>
              <a:pathLst>
                <a:path h="2420392" w="9413876">
                  <a:moveTo>
                    <a:pt x="0" y="0"/>
                  </a:moveTo>
                  <a:lnTo>
                    <a:pt x="9413876" y="0"/>
                  </a:lnTo>
                  <a:lnTo>
                    <a:pt x="9413876" y="2420392"/>
                  </a:lnTo>
                  <a:lnTo>
                    <a:pt x="0" y="2420392"/>
                  </a:lnTo>
                  <a:close/>
                </a:path>
              </a:pathLst>
            </a:custGeom>
          </p:spPr>
        </p:sp>
        <p:sp>
          <p:nvSpPr>
            <p:cNvPr name="TextBox 8" id="8"/>
            <p:cNvSpPr txBox="true"/>
            <p:nvPr/>
          </p:nvSpPr>
          <p:spPr>
            <a:xfrm>
              <a:off x="0" y="-190500"/>
              <a:ext cx="9413876" cy="2610892"/>
            </a:xfrm>
            <a:prstGeom prst="rect">
              <a:avLst/>
            </a:prstGeom>
          </p:spPr>
          <p:txBody>
            <a:bodyPr anchor="ctr" rtlCol="false" tIns="0" lIns="0" bIns="0" rIns="0"/>
            <a:lstStyle/>
            <a:p>
              <a:pPr algn="ctr">
                <a:lnSpc>
                  <a:spcPts val="10800"/>
                </a:lnSpc>
              </a:pPr>
              <a:r>
                <a:rPr lang="en-US" sz="9000" b="true">
                  <a:solidFill>
                    <a:srgbClr val="FFFFFF"/>
                  </a:solidFill>
                  <a:latin typeface="Calibri (MS) Bold"/>
                  <a:ea typeface="Calibri (MS) Bold"/>
                  <a:cs typeface="Calibri (MS) Bold"/>
                  <a:sym typeface="Calibri (MS) Bold"/>
                </a:rPr>
                <a:t>DQL / SELECT</a:t>
              </a:r>
            </a:p>
          </p:txBody>
        </p:sp>
      </p:grpSp>
      <p:sp>
        <p:nvSpPr>
          <p:cNvPr name="Freeform 9" id="9"/>
          <p:cNvSpPr/>
          <p:nvPr/>
        </p:nvSpPr>
        <p:spPr>
          <a:xfrm flipH="false" flipV="false" rot="0">
            <a:off x="5049360" y="6100652"/>
            <a:ext cx="420342" cy="422937"/>
          </a:xfrm>
          <a:custGeom>
            <a:avLst/>
            <a:gdLst/>
            <a:ahLst/>
            <a:cxnLst/>
            <a:rect r="r" b="b" t="t" l="l"/>
            <a:pathLst>
              <a:path h="422937" w="420342">
                <a:moveTo>
                  <a:pt x="0" y="0"/>
                </a:moveTo>
                <a:lnTo>
                  <a:pt x="420342" y="0"/>
                </a:lnTo>
                <a:lnTo>
                  <a:pt x="420342" y="422936"/>
                </a:lnTo>
                <a:lnTo>
                  <a:pt x="0" y="422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1296716" y="6115600"/>
            <a:ext cx="419694" cy="422937"/>
          </a:xfrm>
          <a:custGeom>
            <a:avLst/>
            <a:gdLst/>
            <a:ahLst/>
            <a:cxnLst/>
            <a:rect r="r" b="b" t="t" l="l"/>
            <a:pathLst>
              <a:path h="422937" w="419694">
                <a:moveTo>
                  <a:pt x="0" y="0"/>
                </a:moveTo>
                <a:lnTo>
                  <a:pt x="419694" y="0"/>
                </a:lnTo>
                <a:lnTo>
                  <a:pt x="419694" y="422937"/>
                </a:lnTo>
                <a:lnTo>
                  <a:pt x="0" y="422937"/>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6" id="6"/>
          <p:cNvGrpSpPr/>
          <p:nvPr/>
        </p:nvGrpSpPr>
        <p:grpSpPr>
          <a:xfrm rot="0">
            <a:off x="17895582" y="7350098"/>
            <a:ext cx="392418" cy="2184427"/>
            <a:chOff x="0" y="0"/>
            <a:chExt cx="523224" cy="2912570"/>
          </a:xfrm>
        </p:grpSpPr>
        <p:sp>
          <p:nvSpPr>
            <p:cNvPr name="Freeform 7" id="7"/>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Freeform 8" id="8"/>
          <p:cNvSpPr/>
          <p:nvPr/>
        </p:nvSpPr>
        <p:spPr>
          <a:xfrm flipH="false" flipV="false" rot="0">
            <a:off x="11797099" y="4000339"/>
            <a:ext cx="659190" cy="464317"/>
          </a:xfrm>
          <a:custGeom>
            <a:avLst/>
            <a:gdLst/>
            <a:ahLst/>
            <a:cxnLst/>
            <a:rect r="r" b="b" t="t" l="l"/>
            <a:pathLst>
              <a:path h="464317" w="659190">
                <a:moveTo>
                  <a:pt x="0" y="0"/>
                </a:moveTo>
                <a:lnTo>
                  <a:pt x="659190" y="0"/>
                </a:lnTo>
                <a:lnTo>
                  <a:pt x="659190" y="464318"/>
                </a:lnTo>
                <a:lnTo>
                  <a:pt x="0" y="46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106789" y="6731268"/>
            <a:ext cx="659190" cy="655645"/>
          </a:xfrm>
          <a:custGeom>
            <a:avLst/>
            <a:gdLst/>
            <a:ahLst/>
            <a:cxnLst/>
            <a:rect r="r" b="b" t="t" l="l"/>
            <a:pathLst>
              <a:path h="655645" w="659190">
                <a:moveTo>
                  <a:pt x="0" y="0"/>
                </a:moveTo>
                <a:lnTo>
                  <a:pt x="659190" y="0"/>
                </a:lnTo>
                <a:lnTo>
                  <a:pt x="659190" y="655645"/>
                </a:lnTo>
                <a:lnTo>
                  <a:pt x="0" y="6556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a:grpSpLocks noChangeAspect="true"/>
          </p:cNvGrpSpPr>
          <p:nvPr/>
        </p:nvGrpSpPr>
        <p:grpSpPr>
          <a:xfrm rot="0">
            <a:off x="7686672" y="9840573"/>
            <a:ext cx="2914655" cy="219346"/>
            <a:chOff x="0" y="0"/>
            <a:chExt cx="3886206" cy="292462"/>
          </a:xfrm>
        </p:grpSpPr>
        <p:sp>
          <p:nvSpPr>
            <p:cNvPr name="Freeform 11" id="11"/>
            <p:cNvSpPr/>
            <p:nvPr/>
          </p:nvSpPr>
          <p:spPr>
            <a:xfrm flipH="false" flipV="false" rot="0">
              <a:off x="0" y="0"/>
              <a:ext cx="3886200" cy="292481"/>
            </a:xfrm>
            <a:custGeom>
              <a:avLst/>
              <a:gdLst/>
              <a:ahLst/>
              <a:cxnLst/>
              <a:rect r="r" b="b" t="t" l="l"/>
              <a:pathLst>
                <a:path h="292481" w="3886200">
                  <a:moveTo>
                    <a:pt x="0" y="0"/>
                  </a:moveTo>
                  <a:lnTo>
                    <a:pt x="3886200" y="0"/>
                  </a:lnTo>
                  <a:lnTo>
                    <a:pt x="3886200" y="292481"/>
                  </a:lnTo>
                  <a:lnTo>
                    <a:pt x="0" y="292481"/>
                  </a:lnTo>
                  <a:lnTo>
                    <a:pt x="0" y="0"/>
                  </a:lnTo>
                  <a:close/>
                </a:path>
              </a:pathLst>
            </a:custGeom>
            <a:blipFill>
              <a:blip r:embed="rId8"/>
              <a:stretch>
                <a:fillRect l="0" t="0" r="0" b="6"/>
              </a:stretch>
            </a:blipFill>
          </p:spPr>
        </p:sp>
      </p:grpSp>
      <p:grpSp>
        <p:nvGrpSpPr>
          <p:cNvPr name="Group 12" id="12"/>
          <p:cNvGrpSpPr/>
          <p:nvPr/>
        </p:nvGrpSpPr>
        <p:grpSpPr>
          <a:xfrm rot="0">
            <a:off x="1707357" y="531017"/>
            <a:ext cx="14873286" cy="1281120"/>
            <a:chOff x="0" y="0"/>
            <a:chExt cx="19831048" cy="1708160"/>
          </a:xfrm>
        </p:grpSpPr>
        <p:sp>
          <p:nvSpPr>
            <p:cNvPr name="Freeform 13" id="13"/>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4" id="14"/>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FILTERING</a:t>
              </a:r>
            </a:p>
          </p:txBody>
        </p:sp>
      </p:grpSp>
      <p:sp>
        <p:nvSpPr>
          <p:cNvPr name="Freeform 15" id="15"/>
          <p:cNvSpPr/>
          <p:nvPr/>
        </p:nvSpPr>
        <p:spPr>
          <a:xfrm flipH="false" flipV="false" rot="0">
            <a:off x="4275731" y="4174782"/>
            <a:ext cx="9736538" cy="1937435"/>
          </a:xfrm>
          <a:custGeom>
            <a:avLst/>
            <a:gdLst/>
            <a:ahLst/>
            <a:cxnLst/>
            <a:rect r="r" b="b" t="t" l="l"/>
            <a:pathLst>
              <a:path h="1937435" w="9736538">
                <a:moveTo>
                  <a:pt x="0" y="0"/>
                </a:moveTo>
                <a:lnTo>
                  <a:pt x="9736538" y="0"/>
                </a:lnTo>
                <a:lnTo>
                  <a:pt x="9736538" y="1937436"/>
                </a:lnTo>
                <a:lnTo>
                  <a:pt x="0" y="1937436"/>
                </a:lnTo>
                <a:lnTo>
                  <a:pt x="0" y="0"/>
                </a:lnTo>
                <a:close/>
              </a:path>
            </a:pathLst>
          </a:custGeom>
          <a:blipFill>
            <a:blip r:embed="rId9"/>
            <a:stretch>
              <a:fillRect l="0" t="0" r="0" b="0"/>
            </a:stretch>
          </a:blipFill>
        </p:spPr>
      </p:sp>
      <p:sp>
        <p:nvSpPr>
          <p:cNvPr name="Freeform 16" id="16"/>
          <p:cNvSpPr/>
          <p:nvPr/>
        </p:nvSpPr>
        <p:spPr>
          <a:xfrm flipH="false" flipV="false" rot="0">
            <a:off x="3718529" y="6483532"/>
            <a:ext cx="10850942" cy="3100269"/>
          </a:xfrm>
          <a:custGeom>
            <a:avLst/>
            <a:gdLst/>
            <a:ahLst/>
            <a:cxnLst/>
            <a:rect r="r" b="b" t="t" l="l"/>
            <a:pathLst>
              <a:path h="3100269" w="10850942">
                <a:moveTo>
                  <a:pt x="0" y="0"/>
                </a:moveTo>
                <a:lnTo>
                  <a:pt x="10850942" y="0"/>
                </a:lnTo>
                <a:lnTo>
                  <a:pt x="10850942" y="3100269"/>
                </a:lnTo>
                <a:lnTo>
                  <a:pt x="0" y="3100269"/>
                </a:lnTo>
                <a:lnTo>
                  <a:pt x="0" y="0"/>
                </a:lnTo>
                <a:close/>
              </a:path>
            </a:pathLst>
          </a:custGeom>
          <a:blipFill>
            <a:blip r:embed="rId10"/>
            <a:stretch>
              <a:fillRect l="0" t="0" r="0" b="0"/>
            </a:stretch>
          </a:blipFill>
        </p:spPr>
      </p:sp>
      <p:sp>
        <p:nvSpPr>
          <p:cNvPr name="TextBox 17" id="17"/>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8" id="18"/>
          <p:cNvSpPr txBox="true"/>
          <p:nvPr/>
        </p:nvSpPr>
        <p:spPr>
          <a:xfrm rot="0">
            <a:off x="1918010" y="1916269"/>
            <a:ext cx="14451980" cy="1464945"/>
          </a:xfrm>
          <a:prstGeom prst="rect">
            <a:avLst/>
          </a:prstGeom>
        </p:spPr>
        <p:txBody>
          <a:bodyPr anchor="t" rtlCol="false" tIns="0" lIns="0" bIns="0" rIns="0">
            <a:spAutoFit/>
          </a:bodyPr>
          <a:lstStyle/>
          <a:p>
            <a:pPr algn="ctr">
              <a:lnSpc>
                <a:spcPts val="5699"/>
              </a:lnSpc>
            </a:pPr>
            <a:r>
              <a:rPr lang="en-US" sz="3799">
                <a:solidFill>
                  <a:srgbClr val="000000"/>
                </a:solidFill>
                <a:latin typeface="Calibri (MS)"/>
                <a:ea typeface="Calibri (MS)"/>
                <a:cs typeface="Calibri (MS)"/>
                <a:sym typeface="Calibri (MS)"/>
              </a:rPr>
              <a:t>This query finds reservations that start between 1 December and 31 December but have an end date earlier than 20 December.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6" id="6"/>
          <p:cNvGrpSpPr/>
          <p:nvPr/>
        </p:nvGrpSpPr>
        <p:grpSpPr>
          <a:xfrm rot="0">
            <a:off x="17895582" y="7350098"/>
            <a:ext cx="392418" cy="2184427"/>
            <a:chOff x="0" y="0"/>
            <a:chExt cx="523224" cy="2912570"/>
          </a:xfrm>
        </p:grpSpPr>
        <p:sp>
          <p:nvSpPr>
            <p:cNvPr name="Freeform 7" id="7"/>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Freeform 8" id="8"/>
          <p:cNvSpPr/>
          <p:nvPr/>
        </p:nvSpPr>
        <p:spPr>
          <a:xfrm flipH="false" flipV="false" rot="0">
            <a:off x="11797099" y="4000339"/>
            <a:ext cx="659190" cy="464317"/>
          </a:xfrm>
          <a:custGeom>
            <a:avLst/>
            <a:gdLst/>
            <a:ahLst/>
            <a:cxnLst/>
            <a:rect r="r" b="b" t="t" l="l"/>
            <a:pathLst>
              <a:path h="464317" w="659190">
                <a:moveTo>
                  <a:pt x="0" y="0"/>
                </a:moveTo>
                <a:lnTo>
                  <a:pt x="659190" y="0"/>
                </a:lnTo>
                <a:lnTo>
                  <a:pt x="659190" y="464318"/>
                </a:lnTo>
                <a:lnTo>
                  <a:pt x="0" y="46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106789" y="6731268"/>
            <a:ext cx="659190" cy="655645"/>
          </a:xfrm>
          <a:custGeom>
            <a:avLst/>
            <a:gdLst/>
            <a:ahLst/>
            <a:cxnLst/>
            <a:rect r="r" b="b" t="t" l="l"/>
            <a:pathLst>
              <a:path h="655645" w="659190">
                <a:moveTo>
                  <a:pt x="0" y="0"/>
                </a:moveTo>
                <a:lnTo>
                  <a:pt x="659190" y="0"/>
                </a:lnTo>
                <a:lnTo>
                  <a:pt x="659190" y="655645"/>
                </a:lnTo>
                <a:lnTo>
                  <a:pt x="0" y="6556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a:grpSpLocks noChangeAspect="true"/>
          </p:cNvGrpSpPr>
          <p:nvPr/>
        </p:nvGrpSpPr>
        <p:grpSpPr>
          <a:xfrm rot="0">
            <a:off x="7686672" y="9840573"/>
            <a:ext cx="2914655" cy="219346"/>
            <a:chOff x="0" y="0"/>
            <a:chExt cx="3886206" cy="292462"/>
          </a:xfrm>
        </p:grpSpPr>
        <p:sp>
          <p:nvSpPr>
            <p:cNvPr name="Freeform 11" id="11"/>
            <p:cNvSpPr/>
            <p:nvPr/>
          </p:nvSpPr>
          <p:spPr>
            <a:xfrm flipH="false" flipV="false" rot="0">
              <a:off x="0" y="0"/>
              <a:ext cx="3886200" cy="292481"/>
            </a:xfrm>
            <a:custGeom>
              <a:avLst/>
              <a:gdLst/>
              <a:ahLst/>
              <a:cxnLst/>
              <a:rect r="r" b="b" t="t" l="l"/>
              <a:pathLst>
                <a:path h="292481" w="3886200">
                  <a:moveTo>
                    <a:pt x="0" y="0"/>
                  </a:moveTo>
                  <a:lnTo>
                    <a:pt x="3886200" y="0"/>
                  </a:lnTo>
                  <a:lnTo>
                    <a:pt x="3886200" y="292481"/>
                  </a:lnTo>
                  <a:lnTo>
                    <a:pt x="0" y="292481"/>
                  </a:lnTo>
                  <a:lnTo>
                    <a:pt x="0" y="0"/>
                  </a:lnTo>
                  <a:close/>
                </a:path>
              </a:pathLst>
            </a:custGeom>
            <a:blipFill>
              <a:blip r:embed="rId8"/>
              <a:stretch>
                <a:fillRect l="0" t="0" r="0" b="6"/>
              </a:stretch>
            </a:blipFill>
          </p:spPr>
        </p:sp>
      </p:grpSp>
      <p:grpSp>
        <p:nvGrpSpPr>
          <p:cNvPr name="Group 12" id="12"/>
          <p:cNvGrpSpPr/>
          <p:nvPr/>
        </p:nvGrpSpPr>
        <p:grpSpPr>
          <a:xfrm rot="0">
            <a:off x="1707357" y="531017"/>
            <a:ext cx="14873286" cy="1281120"/>
            <a:chOff x="0" y="0"/>
            <a:chExt cx="19831048" cy="1708160"/>
          </a:xfrm>
        </p:grpSpPr>
        <p:sp>
          <p:nvSpPr>
            <p:cNvPr name="Freeform 13" id="13"/>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4" id="14"/>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LEFT OUTER JOIN</a:t>
              </a:r>
            </a:p>
          </p:txBody>
        </p:sp>
      </p:grpSp>
      <p:sp>
        <p:nvSpPr>
          <p:cNvPr name="Freeform 15" id="15"/>
          <p:cNvSpPr/>
          <p:nvPr/>
        </p:nvSpPr>
        <p:spPr>
          <a:xfrm flipH="false" flipV="false" rot="0">
            <a:off x="911059" y="4571680"/>
            <a:ext cx="8866256" cy="3446309"/>
          </a:xfrm>
          <a:custGeom>
            <a:avLst/>
            <a:gdLst/>
            <a:ahLst/>
            <a:cxnLst/>
            <a:rect r="r" b="b" t="t" l="l"/>
            <a:pathLst>
              <a:path h="3446309" w="8866256">
                <a:moveTo>
                  <a:pt x="0" y="0"/>
                </a:moveTo>
                <a:lnTo>
                  <a:pt x="8866256" y="0"/>
                </a:lnTo>
                <a:lnTo>
                  <a:pt x="8866256" y="3446309"/>
                </a:lnTo>
                <a:lnTo>
                  <a:pt x="0" y="3446309"/>
                </a:lnTo>
                <a:lnTo>
                  <a:pt x="0" y="0"/>
                </a:lnTo>
                <a:close/>
              </a:path>
            </a:pathLst>
          </a:custGeom>
          <a:blipFill>
            <a:blip r:embed="rId9"/>
            <a:stretch>
              <a:fillRect l="0" t="0" r="-3050" b="0"/>
            </a:stretch>
          </a:blipFill>
        </p:spPr>
      </p:sp>
      <p:sp>
        <p:nvSpPr>
          <p:cNvPr name="Freeform 16" id="16"/>
          <p:cNvSpPr/>
          <p:nvPr/>
        </p:nvSpPr>
        <p:spPr>
          <a:xfrm flipH="false" flipV="false" rot="0">
            <a:off x="10803113" y="3673542"/>
            <a:ext cx="6066671" cy="5242586"/>
          </a:xfrm>
          <a:custGeom>
            <a:avLst/>
            <a:gdLst/>
            <a:ahLst/>
            <a:cxnLst/>
            <a:rect r="r" b="b" t="t" l="l"/>
            <a:pathLst>
              <a:path h="5242586" w="6066671">
                <a:moveTo>
                  <a:pt x="0" y="0"/>
                </a:moveTo>
                <a:lnTo>
                  <a:pt x="6066671" y="0"/>
                </a:lnTo>
                <a:lnTo>
                  <a:pt x="6066671" y="5242586"/>
                </a:lnTo>
                <a:lnTo>
                  <a:pt x="0" y="5242586"/>
                </a:lnTo>
                <a:lnTo>
                  <a:pt x="0" y="0"/>
                </a:lnTo>
                <a:close/>
              </a:path>
            </a:pathLst>
          </a:custGeom>
          <a:blipFill>
            <a:blip r:embed="rId10"/>
            <a:stretch>
              <a:fillRect l="0" t="0" r="0" b="0"/>
            </a:stretch>
          </a:blipFill>
        </p:spPr>
      </p:sp>
      <p:sp>
        <p:nvSpPr>
          <p:cNvPr name="TextBox 17" id="17"/>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8" id="18"/>
          <p:cNvSpPr txBox="true"/>
          <p:nvPr/>
        </p:nvSpPr>
        <p:spPr>
          <a:xfrm rot="0">
            <a:off x="1918010" y="1916269"/>
            <a:ext cx="14451980" cy="1464945"/>
          </a:xfrm>
          <a:prstGeom prst="rect">
            <a:avLst/>
          </a:prstGeom>
        </p:spPr>
        <p:txBody>
          <a:bodyPr anchor="t" rtlCol="false" tIns="0" lIns="0" bIns="0" rIns="0">
            <a:spAutoFit/>
          </a:bodyPr>
          <a:lstStyle/>
          <a:p>
            <a:pPr algn="ctr">
              <a:lnSpc>
                <a:spcPts val="5699"/>
              </a:lnSpc>
            </a:pPr>
            <a:r>
              <a:rPr lang="en-US" sz="3799">
                <a:solidFill>
                  <a:srgbClr val="000000"/>
                </a:solidFill>
                <a:latin typeface="Calibri (MS)"/>
                <a:ea typeface="Calibri (MS)"/>
                <a:cs typeface="Calibri (MS)"/>
                <a:sym typeface="Calibri (MS)"/>
              </a:rPr>
              <a:t>This query lists every room, including those without reservations. NULL appears for rooms with no matching reservation.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345150" cy="10287002"/>
            <a:chOff x="0" y="0"/>
            <a:chExt cx="24460200" cy="13716002"/>
          </a:xfrm>
        </p:grpSpPr>
        <p:sp>
          <p:nvSpPr>
            <p:cNvPr name="Freeform 3" id="3"/>
            <p:cNvSpPr/>
            <p:nvPr/>
          </p:nvSpPr>
          <p:spPr>
            <a:xfrm flipH="false" flipV="false" rot="0">
              <a:off x="0" y="0"/>
              <a:ext cx="24460200" cy="13716000"/>
            </a:xfrm>
            <a:custGeom>
              <a:avLst/>
              <a:gdLst/>
              <a:ahLst/>
              <a:cxnLst/>
              <a:rect r="r" b="b" t="t" l="l"/>
              <a:pathLst>
                <a:path h="13716000" w="24460200">
                  <a:moveTo>
                    <a:pt x="0" y="0"/>
                  </a:moveTo>
                  <a:lnTo>
                    <a:pt x="24460200" y="0"/>
                  </a:lnTo>
                  <a:lnTo>
                    <a:pt x="24460200" y="13716000"/>
                  </a:lnTo>
                  <a:lnTo>
                    <a:pt x="0" y="13716000"/>
                  </a:lnTo>
                  <a:close/>
                </a:path>
              </a:pathLst>
            </a:custGeom>
            <a:solidFill>
              <a:srgbClr val="6C1D35"/>
            </a:solidFill>
          </p:spPr>
        </p:sp>
      </p:grpSp>
      <p:grpSp>
        <p:nvGrpSpPr>
          <p:cNvPr name="Group 4" id="4"/>
          <p:cNvGrpSpPr>
            <a:grpSpLocks noChangeAspect="true"/>
          </p:cNvGrpSpPr>
          <p:nvPr/>
        </p:nvGrpSpPr>
        <p:grpSpPr>
          <a:xfrm rot="-5400000">
            <a:off x="4029075" y="-4029075"/>
            <a:ext cx="10287000" cy="18345150"/>
            <a:chOff x="0" y="0"/>
            <a:chExt cx="13716000" cy="24460200"/>
          </a:xfrm>
        </p:grpSpPr>
        <p:sp>
          <p:nvSpPr>
            <p:cNvPr name="Freeform 5" id="5"/>
            <p:cNvSpPr/>
            <p:nvPr/>
          </p:nvSpPr>
          <p:spPr>
            <a:xfrm flipH="false" flipV="false" rot="0">
              <a:off x="0" y="0"/>
              <a:ext cx="13716000" cy="24460200"/>
            </a:xfrm>
            <a:custGeom>
              <a:avLst/>
              <a:gdLst/>
              <a:ahLst/>
              <a:cxnLst/>
              <a:rect r="r" b="b" t="t" l="l"/>
              <a:pathLst>
                <a:path h="24460200" w="13716000">
                  <a:moveTo>
                    <a:pt x="0" y="0"/>
                  </a:moveTo>
                  <a:lnTo>
                    <a:pt x="13716000" y="0"/>
                  </a:lnTo>
                  <a:lnTo>
                    <a:pt x="13716000" y="24460200"/>
                  </a:lnTo>
                  <a:lnTo>
                    <a:pt x="0" y="24460200"/>
                  </a:lnTo>
                  <a:lnTo>
                    <a:pt x="0" y="0"/>
                  </a:lnTo>
                  <a:close/>
                </a:path>
              </a:pathLst>
            </a:custGeom>
            <a:blipFill>
              <a:blip r:embed="rId2">
                <a:alphaModFix amt="32000"/>
              </a:blip>
              <a:stretch>
                <a:fillRect l="-26019" t="0" r="0" b="0"/>
              </a:stretch>
            </a:blipFill>
          </p:spPr>
        </p:sp>
      </p:grpSp>
      <p:grpSp>
        <p:nvGrpSpPr>
          <p:cNvPr name="Group 6" id="6"/>
          <p:cNvGrpSpPr/>
          <p:nvPr/>
        </p:nvGrpSpPr>
        <p:grpSpPr>
          <a:xfrm rot="0">
            <a:off x="5049360" y="4058668"/>
            <a:ext cx="8501670" cy="1815294"/>
            <a:chOff x="0" y="0"/>
            <a:chExt cx="11335561" cy="2420392"/>
          </a:xfrm>
        </p:grpSpPr>
        <p:sp>
          <p:nvSpPr>
            <p:cNvPr name="Freeform 7" id="7"/>
            <p:cNvSpPr/>
            <p:nvPr/>
          </p:nvSpPr>
          <p:spPr>
            <a:xfrm flipH="false" flipV="false" rot="0">
              <a:off x="0" y="0"/>
              <a:ext cx="11335560" cy="2420392"/>
            </a:xfrm>
            <a:custGeom>
              <a:avLst/>
              <a:gdLst/>
              <a:ahLst/>
              <a:cxnLst/>
              <a:rect r="r" b="b" t="t" l="l"/>
              <a:pathLst>
                <a:path h="2420392" w="11335560">
                  <a:moveTo>
                    <a:pt x="0" y="0"/>
                  </a:moveTo>
                  <a:lnTo>
                    <a:pt x="11335560" y="0"/>
                  </a:lnTo>
                  <a:lnTo>
                    <a:pt x="11335560" y="2420392"/>
                  </a:lnTo>
                  <a:lnTo>
                    <a:pt x="0" y="2420392"/>
                  </a:lnTo>
                  <a:close/>
                </a:path>
              </a:pathLst>
            </a:custGeom>
          </p:spPr>
        </p:sp>
        <p:sp>
          <p:nvSpPr>
            <p:cNvPr name="TextBox 8" id="8"/>
            <p:cNvSpPr txBox="true"/>
            <p:nvPr/>
          </p:nvSpPr>
          <p:spPr>
            <a:xfrm>
              <a:off x="0" y="-190500"/>
              <a:ext cx="11335561" cy="2610892"/>
            </a:xfrm>
            <a:prstGeom prst="rect">
              <a:avLst/>
            </a:prstGeom>
          </p:spPr>
          <p:txBody>
            <a:bodyPr anchor="ctr" rtlCol="false" tIns="0" lIns="0" bIns="0" rIns="0"/>
            <a:lstStyle/>
            <a:p>
              <a:pPr algn="ctr">
                <a:lnSpc>
                  <a:spcPts val="10800"/>
                </a:lnSpc>
              </a:pPr>
              <a:r>
                <a:rPr lang="en-US" sz="9000" b="true">
                  <a:solidFill>
                    <a:srgbClr val="FFFFFF"/>
                  </a:solidFill>
                  <a:latin typeface="Calibri (MS) Bold"/>
                  <a:ea typeface="Calibri (MS) Bold"/>
                  <a:cs typeface="Calibri (MS) Bold"/>
                  <a:sym typeface="Calibri (MS) Bold"/>
                </a:rPr>
                <a:t>INDEXING </a:t>
              </a:r>
            </a:p>
          </p:txBody>
        </p:sp>
      </p:grpSp>
      <p:sp>
        <p:nvSpPr>
          <p:cNvPr name="Freeform 9" id="9"/>
          <p:cNvSpPr/>
          <p:nvPr/>
        </p:nvSpPr>
        <p:spPr>
          <a:xfrm flipH="false" flipV="false" rot="0">
            <a:off x="5049360" y="6100652"/>
            <a:ext cx="420342" cy="422937"/>
          </a:xfrm>
          <a:custGeom>
            <a:avLst/>
            <a:gdLst/>
            <a:ahLst/>
            <a:cxnLst/>
            <a:rect r="r" b="b" t="t" l="l"/>
            <a:pathLst>
              <a:path h="422937" w="420342">
                <a:moveTo>
                  <a:pt x="0" y="0"/>
                </a:moveTo>
                <a:lnTo>
                  <a:pt x="420342" y="0"/>
                </a:lnTo>
                <a:lnTo>
                  <a:pt x="420342" y="422936"/>
                </a:lnTo>
                <a:lnTo>
                  <a:pt x="0" y="422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1296716" y="6115600"/>
            <a:ext cx="419694" cy="422937"/>
          </a:xfrm>
          <a:custGeom>
            <a:avLst/>
            <a:gdLst/>
            <a:ahLst/>
            <a:cxnLst/>
            <a:rect r="r" b="b" t="t" l="l"/>
            <a:pathLst>
              <a:path h="422937" w="419694">
                <a:moveTo>
                  <a:pt x="0" y="0"/>
                </a:moveTo>
                <a:lnTo>
                  <a:pt x="419694" y="0"/>
                </a:lnTo>
                <a:lnTo>
                  <a:pt x="419694" y="422937"/>
                </a:lnTo>
                <a:lnTo>
                  <a:pt x="0" y="422937"/>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6" id="6"/>
          <p:cNvGrpSpPr/>
          <p:nvPr/>
        </p:nvGrpSpPr>
        <p:grpSpPr>
          <a:xfrm rot="0">
            <a:off x="17895582" y="7350098"/>
            <a:ext cx="392418" cy="2184427"/>
            <a:chOff x="0" y="0"/>
            <a:chExt cx="523224" cy="2912570"/>
          </a:xfrm>
        </p:grpSpPr>
        <p:sp>
          <p:nvSpPr>
            <p:cNvPr name="Freeform 7" id="7"/>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Freeform 8" id="8"/>
          <p:cNvSpPr/>
          <p:nvPr/>
        </p:nvSpPr>
        <p:spPr>
          <a:xfrm flipH="false" flipV="false" rot="0">
            <a:off x="11797099" y="4000339"/>
            <a:ext cx="659190" cy="464317"/>
          </a:xfrm>
          <a:custGeom>
            <a:avLst/>
            <a:gdLst/>
            <a:ahLst/>
            <a:cxnLst/>
            <a:rect r="r" b="b" t="t" l="l"/>
            <a:pathLst>
              <a:path h="464317" w="659190">
                <a:moveTo>
                  <a:pt x="0" y="0"/>
                </a:moveTo>
                <a:lnTo>
                  <a:pt x="659190" y="0"/>
                </a:lnTo>
                <a:lnTo>
                  <a:pt x="659190" y="464318"/>
                </a:lnTo>
                <a:lnTo>
                  <a:pt x="0" y="46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7686672" y="9840573"/>
            <a:ext cx="2914655" cy="219346"/>
            <a:chOff x="0" y="0"/>
            <a:chExt cx="3886206" cy="292462"/>
          </a:xfrm>
        </p:grpSpPr>
        <p:sp>
          <p:nvSpPr>
            <p:cNvPr name="Freeform 10" id="10"/>
            <p:cNvSpPr/>
            <p:nvPr/>
          </p:nvSpPr>
          <p:spPr>
            <a:xfrm flipH="false" flipV="false" rot="0">
              <a:off x="0" y="0"/>
              <a:ext cx="3886200" cy="292481"/>
            </a:xfrm>
            <a:custGeom>
              <a:avLst/>
              <a:gdLst/>
              <a:ahLst/>
              <a:cxnLst/>
              <a:rect r="r" b="b" t="t" l="l"/>
              <a:pathLst>
                <a:path h="292481" w="3886200">
                  <a:moveTo>
                    <a:pt x="0" y="0"/>
                  </a:moveTo>
                  <a:lnTo>
                    <a:pt x="3886200" y="0"/>
                  </a:lnTo>
                  <a:lnTo>
                    <a:pt x="3886200" y="292481"/>
                  </a:lnTo>
                  <a:lnTo>
                    <a:pt x="0" y="292481"/>
                  </a:lnTo>
                  <a:lnTo>
                    <a:pt x="0" y="0"/>
                  </a:lnTo>
                  <a:close/>
                </a:path>
              </a:pathLst>
            </a:custGeom>
            <a:blipFill>
              <a:blip r:embed="rId6"/>
              <a:stretch>
                <a:fillRect l="0" t="0" r="0" b="6"/>
              </a:stretch>
            </a:blipFill>
          </p:spPr>
        </p:sp>
      </p:grpSp>
      <p:grpSp>
        <p:nvGrpSpPr>
          <p:cNvPr name="Group 11" id="11"/>
          <p:cNvGrpSpPr/>
          <p:nvPr/>
        </p:nvGrpSpPr>
        <p:grpSpPr>
          <a:xfrm rot="0">
            <a:off x="1707356" y="94381"/>
            <a:ext cx="14873286" cy="1281120"/>
            <a:chOff x="0" y="0"/>
            <a:chExt cx="19831048" cy="1708160"/>
          </a:xfrm>
        </p:grpSpPr>
        <p:sp>
          <p:nvSpPr>
            <p:cNvPr name="Freeform 12" id="12"/>
            <p:cNvSpPr/>
            <p:nvPr/>
          </p:nvSpPr>
          <p:spPr>
            <a:xfrm flipH="false" flipV="false" rot="0">
              <a:off x="0" y="0"/>
              <a:ext cx="19831048" cy="1708160"/>
            </a:xfrm>
            <a:custGeom>
              <a:avLst/>
              <a:gdLst/>
              <a:ahLst/>
              <a:cxnLst/>
              <a:rect r="r" b="b" t="t" l="l"/>
              <a:pathLst>
                <a:path h="1708160" w="19831048">
                  <a:moveTo>
                    <a:pt x="0" y="0"/>
                  </a:moveTo>
                  <a:lnTo>
                    <a:pt x="19831048" y="0"/>
                  </a:lnTo>
                  <a:lnTo>
                    <a:pt x="19831048" y="1708160"/>
                  </a:lnTo>
                  <a:lnTo>
                    <a:pt x="0" y="1708160"/>
                  </a:lnTo>
                  <a:close/>
                </a:path>
              </a:pathLst>
            </a:custGeom>
          </p:spPr>
        </p:sp>
        <p:sp>
          <p:nvSpPr>
            <p:cNvPr name="TextBox 13" id="13"/>
            <p:cNvSpPr txBox="true"/>
            <p:nvPr/>
          </p:nvSpPr>
          <p:spPr>
            <a:xfrm>
              <a:off x="0" y="-476250"/>
              <a:ext cx="19831048" cy="2184410"/>
            </a:xfrm>
            <a:prstGeom prst="rect">
              <a:avLst/>
            </a:prstGeom>
          </p:spPr>
          <p:txBody>
            <a:bodyPr anchor="ctr" rtlCol="false" tIns="0" lIns="0" bIns="0" rIns="0"/>
            <a:lstStyle/>
            <a:p>
              <a:pPr algn="ctr">
                <a:lnSpc>
                  <a:spcPts val="10799"/>
                </a:lnSpc>
              </a:pPr>
              <a:r>
                <a:rPr lang="en-US" b="true" sz="5999" spc="-36">
                  <a:solidFill>
                    <a:srgbClr val="000000"/>
                  </a:solidFill>
                  <a:latin typeface="Calibri (MS) Bold"/>
                  <a:ea typeface="Calibri (MS) Bold"/>
                  <a:cs typeface="Calibri (MS) Bold"/>
                  <a:sym typeface="Calibri (MS) Bold"/>
                </a:rPr>
                <a:t> Optimizing Price Queries with B-TREE</a:t>
              </a:r>
            </a:p>
          </p:txBody>
        </p:sp>
      </p:grpSp>
      <p:sp>
        <p:nvSpPr>
          <p:cNvPr name="Freeform 14" id="14"/>
          <p:cNvSpPr/>
          <p:nvPr/>
        </p:nvSpPr>
        <p:spPr>
          <a:xfrm flipH="false" flipV="false" rot="0">
            <a:off x="1232106" y="1632199"/>
            <a:ext cx="7443175" cy="3743415"/>
          </a:xfrm>
          <a:custGeom>
            <a:avLst/>
            <a:gdLst/>
            <a:ahLst/>
            <a:cxnLst/>
            <a:rect r="r" b="b" t="t" l="l"/>
            <a:pathLst>
              <a:path h="3743415" w="7443175">
                <a:moveTo>
                  <a:pt x="0" y="0"/>
                </a:moveTo>
                <a:lnTo>
                  <a:pt x="7443176" y="0"/>
                </a:lnTo>
                <a:lnTo>
                  <a:pt x="7443176" y="3743415"/>
                </a:lnTo>
                <a:lnTo>
                  <a:pt x="0" y="3743415"/>
                </a:lnTo>
                <a:lnTo>
                  <a:pt x="0" y="0"/>
                </a:lnTo>
                <a:close/>
              </a:path>
            </a:pathLst>
          </a:custGeom>
          <a:blipFill>
            <a:blip r:embed="rId7"/>
            <a:stretch>
              <a:fillRect l="0" t="0" r="0" b="0"/>
            </a:stretch>
          </a:blipFill>
        </p:spPr>
      </p:sp>
      <p:sp>
        <p:nvSpPr>
          <p:cNvPr name="Freeform 15" id="15"/>
          <p:cNvSpPr/>
          <p:nvPr/>
        </p:nvSpPr>
        <p:spPr>
          <a:xfrm flipH="false" flipV="false" rot="0">
            <a:off x="1232106" y="5677968"/>
            <a:ext cx="7622069" cy="3334655"/>
          </a:xfrm>
          <a:custGeom>
            <a:avLst/>
            <a:gdLst/>
            <a:ahLst/>
            <a:cxnLst/>
            <a:rect r="r" b="b" t="t" l="l"/>
            <a:pathLst>
              <a:path h="3334655" w="7622069">
                <a:moveTo>
                  <a:pt x="0" y="0"/>
                </a:moveTo>
                <a:lnTo>
                  <a:pt x="7622069" y="0"/>
                </a:lnTo>
                <a:lnTo>
                  <a:pt x="7622069" y="3334656"/>
                </a:lnTo>
                <a:lnTo>
                  <a:pt x="0" y="3334656"/>
                </a:lnTo>
                <a:lnTo>
                  <a:pt x="0" y="0"/>
                </a:lnTo>
                <a:close/>
              </a:path>
            </a:pathLst>
          </a:custGeom>
          <a:blipFill>
            <a:blip r:embed="rId8"/>
            <a:stretch>
              <a:fillRect l="0" t="0" r="0" b="0"/>
            </a:stretch>
          </a:blipFill>
        </p:spPr>
      </p:sp>
      <p:sp>
        <p:nvSpPr>
          <p:cNvPr name="TextBox 16" id="16"/>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7" id="17"/>
          <p:cNvSpPr txBox="true"/>
          <p:nvPr/>
        </p:nvSpPr>
        <p:spPr>
          <a:xfrm rot="0">
            <a:off x="9876477" y="1451224"/>
            <a:ext cx="8064827" cy="8608695"/>
          </a:xfrm>
          <a:prstGeom prst="rect">
            <a:avLst/>
          </a:prstGeom>
        </p:spPr>
        <p:txBody>
          <a:bodyPr anchor="t" rtlCol="false" tIns="0" lIns="0" bIns="0" rIns="0">
            <a:spAutoFit/>
          </a:bodyPr>
          <a:lstStyle/>
          <a:p>
            <a:pPr algn="l" marL="820419" indent="-410209" lvl="1">
              <a:lnSpc>
                <a:spcPts val="5699"/>
              </a:lnSpc>
              <a:buFont typeface="Arial"/>
              <a:buChar char="•"/>
            </a:pPr>
            <a:r>
              <a:rPr lang="en-US" sz="3799">
                <a:solidFill>
                  <a:srgbClr val="000000"/>
                </a:solidFill>
                <a:latin typeface="Calibri (MS)"/>
                <a:ea typeface="Calibri (MS)"/>
                <a:cs typeface="Calibri (MS)"/>
                <a:sym typeface="Calibri (MS)"/>
              </a:rPr>
              <a:t>Before Indexing:</a:t>
            </a:r>
          </a:p>
          <a:p>
            <a:pPr algn="l" marL="1640838" indent="-546946" lvl="2">
              <a:lnSpc>
                <a:spcPts val="5699"/>
              </a:lnSpc>
              <a:buFont typeface="Arial"/>
              <a:buChar char="⚬"/>
            </a:pPr>
            <a:r>
              <a:rPr lang="en-US" sz="3799">
                <a:solidFill>
                  <a:srgbClr val="000000"/>
                </a:solidFill>
                <a:latin typeface="Calibri (MS)"/>
                <a:ea typeface="Calibri (MS)"/>
                <a:cs typeface="Calibri (MS)"/>
                <a:sym typeface="Calibri (MS)"/>
              </a:rPr>
              <a:t>Database performed a Full Table Scan (checking every row).</a:t>
            </a:r>
          </a:p>
          <a:p>
            <a:pPr algn="l" marL="1640838" indent="-546946" lvl="2">
              <a:lnSpc>
                <a:spcPts val="5699"/>
              </a:lnSpc>
              <a:buFont typeface="Arial"/>
              <a:buChar char="⚬"/>
            </a:pPr>
            <a:r>
              <a:rPr lang="en-US" sz="3799">
                <a:solidFill>
                  <a:srgbClr val="000000"/>
                </a:solidFill>
                <a:latin typeface="Calibri (MS)"/>
                <a:ea typeface="Calibri (MS)"/>
                <a:cs typeface="Calibri (MS)"/>
                <a:sym typeface="Calibri (MS)"/>
              </a:rPr>
              <a:t>Query Cost: 4.75.</a:t>
            </a:r>
          </a:p>
          <a:p>
            <a:pPr algn="l" marL="820419" indent="-410209" lvl="1">
              <a:lnSpc>
                <a:spcPts val="5699"/>
              </a:lnSpc>
              <a:buFont typeface="Arial"/>
              <a:buChar char="•"/>
            </a:pPr>
            <a:r>
              <a:rPr lang="en-US" sz="3799">
                <a:solidFill>
                  <a:srgbClr val="000000"/>
                </a:solidFill>
                <a:latin typeface="Calibri (MS)"/>
                <a:ea typeface="Calibri (MS)"/>
                <a:cs typeface="Calibri (MS)"/>
                <a:sym typeface="Calibri (MS)"/>
              </a:rPr>
              <a:t>Solution: Implemented idx_price_btree on the room_types table.</a:t>
            </a:r>
          </a:p>
          <a:p>
            <a:pPr algn="l" marL="820419" indent="-410209" lvl="1">
              <a:lnSpc>
                <a:spcPts val="5699"/>
              </a:lnSpc>
              <a:buFont typeface="Arial"/>
              <a:buChar char="•"/>
            </a:pPr>
            <a:r>
              <a:rPr lang="en-US" sz="3799">
                <a:solidFill>
                  <a:srgbClr val="000000"/>
                </a:solidFill>
                <a:latin typeface="Calibri (MS)"/>
                <a:ea typeface="Calibri (MS)"/>
                <a:cs typeface="Calibri (MS)"/>
                <a:sym typeface="Calibri (MS)"/>
              </a:rPr>
              <a:t>After Indexing:</a:t>
            </a:r>
          </a:p>
          <a:p>
            <a:pPr algn="l" marL="1640838" indent="-546946" lvl="2">
              <a:lnSpc>
                <a:spcPts val="5699"/>
              </a:lnSpc>
              <a:buFont typeface="Arial"/>
              <a:buChar char="⚬"/>
            </a:pPr>
            <a:r>
              <a:rPr lang="en-US" sz="3799">
                <a:solidFill>
                  <a:srgbClr val="000000"/>
                </a:solidFill>
                <a:latin typeface="Calibri (MS)"/>
                <a:ea typeface="Calibri (MS)"/>
                <a:cs typeface="Calibri (MS)"/>
                <a:sym typeface="Calibri (MS)"/>
              </a:rPr>
              <a:t>Enabled Range Access strategy.</a:t>
            </a:r>
          </a:p>
          <a:p>
            <a:pPr algn="l" marL="1640838" indent="-546946" lvl="2">
              <a:lnSpc>
                <a:spcPts val="5699"/>
              </a:lnSpc>
              <a:buFont typeface="Arial"/>
              <a:buChar char="⚬"/>
            </a:pPr>
            <a:r>
              <a:rPr lang="en-US" sz="3799">
                <a:solidFill>
                  <a:srgbClr val="000000"/>
                </a:solidFill>
                <a:latin typeface="Calibri (MS)"/>
                <a:ea typeface="Calibri (MS)"/>
                <a:cs typeface="Calibri (MS)"/>
                <a:sym typeface="Calibri (MS)"/>
              </a:rPr>
              <a:t>Query Cost: Reduced to 2.42 (~50% efficiency boost).</a:t>
            </a:r>
          </a:p>
          <a:p>
            <a:pPr algn="ctr">
              <a:lnSpc>
                <a:spcPts val="56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6" id="6"/>
          <p:cNvGrpSpPr/>
          <p:nvPr/>
        </p:nvGrpSpPr>
        <p:grpSpPr>
          <a:xfrm rot="0">
            <a:off x="17895582" y="7350098"/>
            <a:ext cx="392418" cy="2184427"/>
            <a:chOff x="0" y="0"/>
            <a:chExt cx="523224" cy="2912570"/>
          </a:xfrm>
        </p:grpSpPr>
        <p:sp>
          <p:nvSpPr>
            <p:cNvPr name="Freeform 7" id="7"/>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Freeform 8" id="8"/>
          <p:cNvSpPr/>
          <p:nvPr/>
        </p:nvSpPr>
        <p:spPr>
          <a:xfrm flipH="false" flipV="false" rot="0">
            <a:off x="11797099" y="4000339"/>
            <a:ext cx="659190" cy="464317"/>
          </a:xfrm>
          <a:custGeom>
            <a:avLst/>
            <a:gdLst/>
            <a:ahLst/>
            <a:cxnLst/>
            <a:rect r="r" b="b" t="t" l="l"/>
            <a:pathLst>
              <a:path h="464317" w="659190">
                <a:moveTo>
                  <a:pt x="0" y="0"/>
                </a:moveTo>
                <a:lnTo>
                  <a:pt x="659190" y="0"/>
                </a:lnTo>
                <a:lnTo>
                  <a:pt x="659190" y="464318"/>
                </a:lnTo>
                <a:lnTo>
                  <a:pt x="0" y="46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7686672" y="9840573"/>
            <a:ext cx="2914655" cy="219346"/>
            <a:chOff x="0" y="0"/>
            <a:chExt cx="3886206" cy="292462"/>
          </a:xfrm>
        </p:grpSpPr>
        <p:sp>
          <p:nvSpPr>
            <p:cNvPr name="Freeform 10" id="10"/>
            <p:cNvSpPr/>
            <p:nvPr/>
          </p:nvSpPr>
          <p:spPr>
            <a:xfrm flipH="false" flipV="false" rot="0">
              <a:off x="0" y="0"/>
              <a:ext cx="3886200" cy="292481"/>
            </a:xfrm>
            <a:custGeom>
              <a:avLst/>
              <a:gdLst/>
              <a:ahLst/>
              <a:cxnLst/>
              <a:rect r="r" b="b" t="t" l="l"/>
              <a:pathLst>
                <a:path h="292481" w="3886200">
                  <a:moveTo>
                    <a:pt x="0" y="0"/>
                  </a:moveTo>
                  <a:lnTo>
                    <a:pt x="3886200" y="0"/>
                  </a:lnTo>
                  <a:lnTo>
                    <a:pt x="3886200" y="292481"/>
                  </a:lnTo>
                  <a:lnTo>
                    <a:pt x="0" y="292481"/>
                  </a:lnTo>
                  <a:lnTo>
                    <a:pt x="0" y="0"/>
                  </a:lnTo>
                  <a:close/>
                </a:path>
              </a:pathLst>
            </a:custGeom>
            <a:blipFill>
              <a:blip r:embed="rId6"/>
              <a:stretch>
                <a:fillRect l="0" t="0" r="0" b="6"/>
              </a:stretch>
            </a:blipFill>
          </p:spPr>
        </p:sp>
      </p:grpSp>
      <p:grpSp>
        <p:nvGrpSpPr>
          <p:cNvPr name="Group 11" id="11"/>
          <p:cNvGrpSpPr/>
          <p:nvPr/>
        </p:nvGrpSpPr>
        <p:grpSpPr>
          <a:xfrm rot="0">
            <a:off x="1707356" y="94381"/>
            <a:ext cx="14873286" cy="2562746"/>
            <a:chOff x="0" y="0"/>
            <a:chExt cx="19831048" cy="3416995"/>
          </a:xfrm>
        </p:grpSpPr>
        <p:sp>
          <p:nvSpPr>
            <p:cNvPr name="Freeform 12" id="12"/>
            <p:cNvSpPr/>
            <p:nvPr/>
          </p:nvSpPr>
          <p:spPr>
            <a:xfrm flipH="false" flipV="false" rot="0">
              <a:off x="0" y="0"/>
              <a:ext cx="19831048" cy="3416995"/>
            </a:xfrm>
            <a:custGeom>
              <a:avLst/>
              <a:gdLst/>
              <a:ahLst/>
              <a:cxnLst/>
              <a:rect r="r" b="b" t="t" l="l"/>
              <a:pathLst>
                <a:path h="3416995" w="19831048">
                  <a:moveTo>
                    <a:pt x="0" y="0"/>
                  </a:moveTo>
                  <a:lnTo>
                    <a:pt x="19831048" y="0"/>
                  </a:lnTo>
                  <a:lnTo>
                    <a:pt x="19831048" y="3416995"/>
                  </a:lnTo>
                  <a:lnTo>
                    <a:pt x="0" y="3416995"/>
                  </a:lnTo>
                  <a:close/>
                </a:path>
              </a:pathLst>
            </a:custGeom>
          </p:spPr>
        </p:sp>
        <p:sp>
          <p:nvSpPr>
            <p:cNvPr name="TextBox 13" id="13"/>
            <p:cNvSpPr txBox="true"/>
            <p:nvPr/>
          </p:nvSpPr>
          <p:spPr>
            <a:xfrm>
              <a:off x="0" y="-476250"/>
              <a:ext cx="19831048" cy="3893245"/>
            </a:xfrm>
            <a:prstGeom prst="rect">
              <a:avLst/>
            </a:prstGeom>
          </p:spPr>
          <p:txBody>
            <a:bodyPr anchor="ctr" rtlCol="false" tIns="0" lIns="0" bIns="0" rIns="0"/>
            <a:lstStyle/>
            <a:p>
              <a:pPr algn="ctr">
                <a:lnSpc>
                  <a:spcPts val="10799"/>
                </a:lnSpc>
              </a:pPr>
              <a:r>
                <a:rPr lang="en-US" b="true" sz="5999" spc="-35">
                  <a:solidFill>
                    <a:srgbClr val="000000"/>
                  </a:solidFill>
                  <a:latin typeface="Calibri (MS) Bold"/>
                  <a:ea typeface="Calibri (MS) Bold"/>
                  <a:cs typeface="Calibri (MS) Bold"/>
                  <a:sym typeface="Calibri (MS) Bold"/>
                </a:rPr>
                <a:t> Text Search Optimization (FULLTEXT)</a:t>
              </a:r>
            </a:p>
            <a:p>
              <a:pPr algn="ctr">
                <a:lnSpc>
                  <a:spcPts val="10799"/>
                </a:lnSpc>
              </a:pPr>
            </a:p>
          </p:txBody>
        </p:sp>
      </p:grpSp>
      <p:sp>
        <p:nvSpPr>
          <p:cNvPr name="Freeform 14" id="14"/>
          <p:cNvSpPr/>
          <p:nvPr/>
        </p:nvSpPr>
        <p:spPr>
          <a:xfrm flipH="false" flipV="false" rot="0">
            <a:off x="705395" y="1632199"/>
            <a:ext cx="8085968" cy="2996897"/>
          </a:xfrm>
          <a:custGeom>
            <a:avLst/>
            <a:gdLst/>
            <a:ahLst/>
            <a:cxnLst/>
            <a:rect r="r" b="b" t="t" l="l"/>
            <a:pathLst>
              <a:path h="2996897" w="8085968">
                <a:moveTo>
                  <a:pt x="0" y="0"/>
                </a:moveTo>
                <a:lnTo>
                  <a:pt x="8085968" y="0"/>
                </a:lnTo>
                <a:lnTo>
                  <a:pt x="8085968" y="2996898"/>
                </a:lnTo>
                <a:lnTo>
                  <a:pt x="0" y="2996898"/>
                </a:lnTo>
                <a:lnTo>
                  <a:pt x="0" y="0"/>
                </a:lnTo>
                <a:close/>
              </a:path>
            </a:pathLst>
          </a:custGeom>
          <a:blipFill>
            <a:blip r:embed="rId7"/>
            <a:stretch>
              <a:fillRect l="0" t="0" r="0" b="0"/>
            </a:stretch>
          </a:blipFill>
        </p:spPr>
      </p:sp>
      <p:sp>
        <p:nvSpPr>
          <p:cNvPr name="Freeform 15" id="15"/>
          <p:cNvSpPr/>
          <p:nvPr/>
        </p:nvSpPr>
        <p:spPr>
          <a:xfrm flipH="false" flipV="false" rot="0">
            <a:off x="705395" y="5846059"/>
            <a:ext cx="8438605" cy="1924112"/>
          </a:xfrm>
          <a:custGeom>
            <a:avLst/>
            <a:gdLst/>
            <a:ahLst/>
            <a:cxnLst/>
            <a:rect r="r" b="b" t="t" l="l"/>
            <a:pathLst>
              <a:path h="1924112" w="8438605">
                <a:moveTo>
                  <a:pt x="0" y="0"/>
                </a:moveTo>
                <a:lnTo>
                  <a:pt x="8438605" y="0"/>
                </a:lnTo>
                <a:lnTo>
                  <a:pt x="8438605" y="1924112"/>
                </a:lnTo>
                <a:lnTo>
                  <a:pt x="0" y="1924112"/>
                </a:lnTo>
                <a:lnTo>
                  <a:pt x="0" y="0"/>
                </a:lnTo>
                <a:close/>
              </a:path>
            </a:pathLst>
          </a:custGeom>
          <a:blipFill>
            <a:blip r:embed="rId8"/>
            <a:stretch>
              <a:fillRect l="0" t="0" r="0" b="0"/>
            </a:stretch>
          </a:blipFill>
        </p:spPr>
      </p:sp>
      <p:sp>
        <p:nvSpPr>
          <p:cNvPr name="TextBox 16" id="16"/>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7" id="17"/>
          <p:cNvSpPr txBox="true"/>
          <p:nvPr/>
        </p:nvSpPr>
        <p:spPr>
          <a:xfrm rot="0">
            <a:off x="9144000" y="1619706"/>
            <a:ext cx="8947792" cy="7954269"/>
          </a:xfrm>
          <a:prstGeom prst="rect">
            <a:avLst/>
          </a:prstGeom>
        </p:spPr>
        <p:txBody>
          <a:bodyPr anchor="t" rtlCol="false" tIns="0" lIns="0" bIns="0" rIns="0">
            <a:spAutoFit/>
          </a:bodyPr>
          <a:lstStyle/>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Scenario: Searching for specific keywords (e.g., "College") in location names.</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Before Indexing:</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Used LIKE '%College%', forcing the database to read every character.</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Resulted in an inefficient Inner Hash Join.</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Solution: Implemented idx_college_fulltext and used MATCH...AGAINST.</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After Indexing:</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Utilized Natural Language Mode for tokenized searching.</a:t>
            </a:r>
          </a:p>
          <a:p>
            <a:pPr algn="just" marL="696606" indent="-348303" lvl="1">
              <a:lnSpc>
                <a:spcPts val="4839"/>
              </a:lnSpc>
              <a:buFont typeface="Arial"/>
              <a:buChar char="•"/>
            </a:pPr>
            <a:r>
              <a:rPr lang="en-US" sz="3226">
                <a:solidFill>
                  <a:srgbClr val="000000"/>
                </a:solidFill>
                <a:latin typeface="Calibri (MS)"/>
                <a:ea typeface="Calibri (MS)"/>
                <a:cs typeface="Calibri (MS)"/>
                <a:sym typeface="Calibri (MS)"/>
              </a:rPr>
              <a:t>Query Cost: Drastically reduced to 0.70.</a:t>
            </a:r>
          </a:p>
          <a:p>
            <a:pPr algn="l">
              <a:lnSpc>
                <a:spcPts val="483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0148" y="1905"/>
            <a:ext cx="10668080" cy="2747192"/>
            <a:chOff x="0" y="0"/>
            <a:chExt cx="14224106" cy="3662922"/>
          </a:xfrm>
        </p:grpSpPr>
        <p:sp>
          <p:nvSpPr>
            <p:cNvPr name="Freeform 3" id="3"/>
            <p:cNvSpPr/>
            <p:nvPr/>
          </p:nvSpPr>
          <p:spPr>
            <a:xfrm flipH="false" flipV="true" rot="0">
              <a:off x="0" y="0"/>
              <a:ext cx="14224127" cy="3662934"/>
            </a:xfrm>
            <a:custGeom>
              <a:avLst/>
              <a:gdLst/>
              <a:ahLst/>
              <a:cxnLst/>
              <a:rect r="r" b="b" t="t" l="l"/>
              <a:pathLst>
                <a:path h="3662934" w="14224127">
                  <a:moveTo>
                    <a:pt x="0" y="3662934"/>
                  </a:moveTo>
                  <a:lnTo>
                    <a:pt x="14224127" y="3662934"/>
                  </a:lnTo>
                  <a:lnTo>
                    <a:pt x="14224127" y="0"/>
                  </a:lnTo>
                  <a:lnTo>
                    <a:pt x="0" y="0"/>
                  </a:lnTo>
                  <a:lnTo>
                    <a:pt x="0" y="3662934"/>
                  </a:lnTo>
                  <a:close/>
                </a:path>
              </a:pathLst>
            </a:custGeom>
            <a:blipFill>
              <a:blip r:embed="rId2"/>
              <a:stretch>
                <a:fillRect l="0" t="0" r="0" b="0"/>
              </a:stretch>
            </a:blipFill>
          </p:spPr>
        </p:sp>
      </p:grpSp>
      <p:grpSp>
        <p:nvGrpSpPr>
          <p:cNvPr name="Group 4" id="4"/>
          <p:cNvGrpSpPr>
            <a:grpSpLocks noChangeAspect="true"/>
          </p:cNvGrpSpPr>
          <p:nvPr/>
        </p:nvGrpSpPr>
        <p:grpSpPr>
          <a:xfrm rot="0">
            <a:off x="15718317" y="425385"/>
            <a:ext cx="2202251" cy="746192"/>
            <a:chOff x="0" y="0"/>
            <a:chExt cx="2936334" cy="994922"/>
          </a:xfrm>
        </p:grpSpPr>
        <p:sp>
          <p:nvSpPr>
            <p:cNvPr name="Freeform 5" id="5"/>
            <p:cNvSpPr/>
            <p:nvPr/>
          </p:nvSpPr>
          <p:spPr>
            <a:xfrm flipH="false" flipV="false" rot="0">
              <a:off x="0" y="0"/>
              <a:ext cx="2936367" cy="994918"/>
            </a:xfrm>
            <a:custGeom>
              <a:avLst/>
              <a:gdLst/>
              <a:ahLst/>
              <a:cxnLst/>
              <a:rect r="r" b="b" t="t" l="l"/>
              <a:pathLst>
                <a:path h="994918" w="2936367">
                  <a:moveTo>
                    <a:pt x="0" y="0"/>
                  </a:moveTo>
                  <a:lnTo>
                    <a:pt x="2936367" y="0"/>
                  </a:lnTo>
                  <a:lnTo>
                    <a:pt x="2936367" y="994918"/>
                  </a:lnTo>
                  <a:lnTo>
                    <a:pt x="0" y="994918"/>
                  </a:lnTo>
                  <a:lnTo>
                    <a:pt x="0" y="0"/>
                  </a:lnTo>
                  <a:close/>
                </a:path>
              </a:pathLst>
            </a:custGeom>
            <a:blipFill>
              <a:blip r:embed="rId3"/>
              <a:stretch>
                <a:fillRect l="0" t="0" r="1" b="0"/>
              </a:stretch>
            </a:blipFill>
          </p:spPr>
        </p:sp>
      </p:grpSp>
      <p:grpSp>
        <p:nvGrpSpPr>
          <p:cNvPr name="Group 6" id="6"/>
          <p:cNvGrpSpPr/>
          <p:nvPr/>
        </p:nvGrpSpPr>
        <p:grpSpPr>
          <a:xfrm rot="0">
            <a:off x="17895582" y="7350098"/>
            <a:ext cx="392418" cy="2184427"/>
            <a:chOff x="0" y="0"/>
            <a:chExt cx="523224" cy="2912570"/>
          </a:xfrm>
        </p:grpSpPr>
        <p:sp>
          <p:nvSpPr>
            <p:cNvPr name="Freeform 7" id="7"/>
            <p:cNvSpPr/>
            <p:nvPr/>
          </p:nvSpPr>
          <p:spPr>
            <a:xfrm flipH="false" flipV="false" rot="0">
              <a:off x="0" y="0"/>
              <a:ext cx="523240" cy="2912618"/>
            </a:xfrm>
            <a:custGeom>
              <a:avLst/>
              <a:gdLst/>
              <a:ahLst/>
              <a:cxnLst/>
              <a:rect r="r" b="b" t="t" l="l"/>
              <a:pathLst>
                <a:path h="2912618" w="523240">
                  <a:moveTo>
                    <a:pt x="0" y="0"/>
                  </a:moveTo>
                  <a:lnTo>
                    <a:pt x="523240" y="0"/>
                  </a:lnTo>
                  <a:lnTo>
                    <a:pt x="523240" y="2912618"/>
                  </a:lnTo>
                  <a:lnTo>
                    <a:pt x="0" y="2912618"/>
                  </a:lnTo>
                  <a:close/>
                </a:path>
              </a:pathLst>
            </a:custGeom>
            <a:solidFill>
              <a:srgbClr val="262626"/>
            </a:solidFill>
          </p:spPr>
        </p:sp>
      </p:grpSp>
      <p:sp>
        <p:nvSpPr>
          <p:cNvPr name="Freeform 8" id="8"/>
          <p:cNvSpPr/>
          <p:nvPr/>
        </p:nvSpPr>
        <p:spPr>
          <a:xfrm flipH="false" flipV="false" rot="0">
            <a:off x="11797099" y="4000339"/>
            <a:ext cx="659190" cy="464317"/>
          </a:xfrm>
          <a:custGeom>
            <a:avLst/>
            <a:gdLst/>
            <a:ahLst/>
            <a:cxnLst/>
            <a:rect r="r" b="b" t="t" l="l"/>
            <a:pathLst>
              <a:path h="464317" w="659190">
                <a:moveTo>
                  <a:pt x="0" y="0"/>
                </a:moveTo>
                <a:lnTo>
                  <a:pt x="659190" y="0"/>
                </a:lnTo>
                <a:lnTo>
                  <a:pt x="659190" y="464318"/>
                </a:lnTo>
                <a:lnTo>
                  <a:pt x="0" y="46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7686672" y="9840573"/>
            <a:ext cx="2914655" cy="219346"/>
            <a:chOff x="0" y="0"/>
            <a:chExt cx="3886206" cy="292462"/>
          </a:xfrm>
        </p:grpSpPr>
        <p:sp>
          <p:nvSpPr>
            <p:cNvPr name="Freeform 10" id="10"/>
            <p:cNvSpPr/>
            <p:nvPr/>
          </p:nvSpPr>
          <p:spPr>
            <a:xfrm flipH="false" flipV="false" rot="0">
              <a:off x="0" y="0"/>
              <a:ext cx="3886200" cy="292481"/>
            </a:xfrm>
            <a:custGeom>
              <a:avLst/>
              <a:gdLst/>
              <a:ahLst/>
              <a:cxnLst/>
              <a:rect r="r" b="b" t="t" l="l"/>
              <a:pathLst>
                <a:path h="292481" w="3886200">
                  <a:moveTo>
                    <a:pt x="0" y="0"/>
                  </a:moveTo>
                  <a:lnTo>
                    <a:pt x="3886200" y="0"/>
                  </a:lnTo>
                  <a:lnTo>
                    <a:pt x="3886200" y="292481"/>
                  </a:lnTo>
                  <a:lnTo>
                    <a:pt x="0" y="292481"/>
                  </a:lnTo>
                  <a:lnTo>
                    <a:pt x="0" y="0"/>
                  </a:lnTo>
                  <a:close/>
                </a:path>
              </a:pathLst>
            </a:custGeom>
            <a:blipFill>
              <a:blip r:embed="rId6"/>
              <a:stretch>
                <a:fillRect l="0" t="0" r="0" b="6"/>
              </a:stretch>
            </a:blipFill>
          </p:spPr>
        </p:sp>
      </p:grpSp>
      <p:grpSp>
        <p:nvGrpSpPr>
          <p:cNvPr name="Group 11" id="11"/>
          <p:cNvGrpSpPr/>
          <p:nvPr/>
        </p:nvGrpSpPr>
        <p:grpSpPr>
          <a:xfrm rot="0">
            <a:off x="1707356" y="94381"/>
            <a:ext cx="14873286" cy="2562746"/>
            <a:chOff x="0" y="0"/>
            <a:chExt cx="19831048" cy="3416995"/>
          </a:xfrm>
        </p:grpSpPr>
        <p:sp>
          <p:nvSpPr>
            <p:cNvPr name="Freeform 12" id="12"/>
            <p:cNvSpPr/>
            <p:nvPr/>
          </p:nvSpPr>
          <p:spPr>
            <a:xfrm flipH="false" flipV="false" rot="0">
              <a:off x="0" y="0"/>
              <a:ext cx="19831048" cy="3416995"/>
            </a:xfrm>
            <a:custGeom>
              <a:avLst/>
              <a:gdLst/>
              <a:ahLst/>
              <a:cxnLst/>
              <a:rect r="r" b="b" t="t" l="l"/>
              <a:pathLst>
                <a:path h="3416995" w="19831048">
                  <a:moveTo>
                    <a:pt x="0" y="0"/>
                  </a:moveTo>
                  <a:lnTo>
                    <a:pt x="19831048" y="0"/>
                  </a:lnTo>
                  <a:lnTo>
                    <a:pt x="19831048" y="3416995"/>
                  </a:lnTo>
                  <a:lnTo>
                    <a:pt x="0" y="3416995"/>
                  </a:lnTo>
                  <a:close/>
                </a:path>
              </a:pathLst>
            </a:custGeom>
          </p:spPr>
        </p:sp>
        <p:sp>
          <p:nvSpPr>
            <p:cNvPr name="TextBox 13" id="13"/>
            <p:cNvSpPr txBox="true"/>
            <p:nvPr/>
          </p:nvSpPr>
          <p:spPr>
            <a:xfrm>
              <a:off x="0" y="-476250"/>
              <a:ext cx="19831048" cy="3893245"/>
            </a:xfrm>
            <a:prstGeom prst="rect">
              <a:avLst/>
            </a:prstGeom>
          </p:spPr>
          <p:txBody>
            <a:bodyPr anchor="ctr" rtlCol="false" tIns="0" lIns="0" bIns="0" rIns="0"/>
            <a:lstStyle/>
            <a:p>
              <a:pPr algn="ctr">
                <a:lnSpc>
                  <a:spcPts val="10799"/>
                </a:lnSpc>
              </a:pPr>
              <a:r>
                <a:rPr lang="en-US" b="true" sz="5999" spc="-35">
                  <a:solidFill>
                    <a:srgbClr val="000000"/>
                  </a:solidFill>
                  <a:latin typeface="Calibri (MS) Bold"/>
                  <a:ea typeface="Calibri (MS) Bold"/>
                  <a:cs typeface="Calibri (MS) Bold"/>
                  <a:sym typeface="Calibri (MS) Bold"/>
                </a:rPr>
                <a:t> Validation of Results</a:t>
              </a:r>
            </a:p>
            <a:p>
              <a:pPr algn="ctr">
                <a:lnSpc>
                  <a:spcPts val="10799"/>
                </a:lnSpc>
              </a:pPr>
            </a:p>
          </p:txBody>
        </p:sp>
      </p:grpSp>
      <p:sp>
        <p:nvSpPr>
          <p:cNvPr name="Freeform 14" id="14"/>
          <p:cNvSpPr/>
          <p:nvPr/>
        </p:nvSpPr>
        <p:spPr>
          <a:xfrm flipH="false" flipV="false" rot="0">
            <a:off x="799017" y="2689542"/>
            <a:ext cx="8050999" cy="2453958"/>
          </a:xfrm>
          <a:custGeom>
            <a:avLst/>
            <a:gdLst/>
            <a:ahLst/>
            <a:cxnLst/>
            <a:rect r="r" b="b" t="t" l="l"/>
            <a:pathLst>
              <a:path h="2453958" w="8050999">
                <a:moveTo>
                  <a:pt x="0" y="0"/>
                </a:moveTo>
                <a:lnTo>
                  <a:pt x="8050999" y="0"/>
                </a:lnTo>
                <a:lnTo>
                  <a:pt x="8050999" y="2453958"/>
                </a:lnTo>
                <a:lnTo>
                  <a:pt x="0" y="2453958"/>
                </a:lnTo>
                <a:lnTo>
                  <a:pt x="0" y="0"/>
                </a:lnTo>
                <a:close/>
              </a:path>
            </a:pathLst>
          </a:custGeom>
          <a:blipFill>
            <a:blip r:embed="rId7"/>
            <a:stretch>
              <a:fillRect l="0" t="0" r="0" b="0"/>
            </a:stretch>
          </a:blipFill>
        </p:spPr>
      </p:sp>
      <p:sp>
        <p:nvSpPr>
          <p:cNvPr name="Freeform 15" id="15"/>
          <p:cNvSpPr/>
          <p:nvPr/>
        </p:nvSpPr>
        <p:spPr>
          <a:xfrm flipH="false" flipV="false" rot="0">
            <a:off x="570106" y="7735650"/>
            <a:ext cx="17147788" cy="1272687"/>
          </a:xfrm>
          <a:custGeom>
            <a:avLst/>
            <a:gdLst/>
            <a:ahLst/>
            <a:cxnLst/>
            <a:rect r="r" b="b" t="t" l="l"/>
            <a:pathLst>
              <a:path h="1272687" w="17147788">
                <a:moveTo>
                  <a:pt x="0" y="0"/>
                </a:moveTo>
                <a:lnTo>
                  <a:pt x="17147788" y="0"/>
                </a:lnTo>
                <a:lnTo>
                  <a:pt x="17147788" y="1272688"/>
                </a:lnTo>
                <a:lnTo>
                  <a:pt x="0" y="1272688"/>
                </a:lnTo>
                <a:lnTo>
                  <a:pt x="0" y="0"/>
                </a:lnTo>
                <a:close/>
              </a:path>
            </a:pathLst>
          </a:custGeom>
          <a:blipFill>
            <a:blip r:embed="rId8"/>
            <a:stretch>
              <a:fillRect l="0" t="0" r="0" b="0"/>
            </a:stretch>
          </a:blipFill>
        </p:spPr>
      </p:sp>
      <p:sp>
        <p:nvSpPr>
          <p:cNvPr name="TextBox 16" id="16"/>
          <p:cNvSpPr txBox="true"/>
          <p:nvPr/>
        </p:nvSpPr>
        <p:spPr>
          <a:xfrm rot="-5400000">
            <a:off x="17135968" y="8274864"/>
            <a:ext cx="1883072" cy="329550"/>
          </a:xfrm>
          <a:prstGeom prst="rect">
            <a:avLst/>
          </a:prstGeom>
        </p:spPr>
        <p:txBody>
          <a:bodyPr anchor="t" rtlCol="false" tIns="0" lIns="0" bIns="0" rIns="0">
            <a:spAutoFit/>
          </a:bodyPr>
          <a:lstStyle/>
          <a:p>
            <a:pPr algn="ctr">
              <a:lnSpc>
                <a:spcPts val="1980"/>
              </a:lnSpc>
            </a:pPr>
            <a:r>
              <a:rPr lang="en-US" sz="1650" b="true">
                <a:solidFill>
                  <a:srgbClr val="F2F2F2"/>
                </a:solidFill>
                <a:latin typeface="Calibri (MS) Bold"/>
                <a:ea typeface="Calibri (MS) Bold"/>
                <a:cs typeface="Calibri (MS) Bold"/>
                <a:sym typeface="Calibri (MS) Bold"/>
              </a:rPr>
              <a:t>www.utm.my</a:t>
            </a:r>
          </a:p>
        </p:txBody>
      </p:sp>
      <p:sp>
        <p:nvSpPr>
          <p:cNvPr name="TextBox 17" id="17"/>
          <p:cNvSpPr txBox="true"/>
          <p:nvPr/>
        </p:nvSpPr>
        <p:spPr>
          <a:xfrm rot="0">
            <a:off x="9144000" y="1619706"/>
            <a:ext cx="8947792" cy="4906269"/>
          </a:xfrm>
          <a:prstGeom prst="rect">
            <a:avLst/>
          </a:prstGeom>
        </p:spPr>
        <p:txBody>
          <a:bodyPr anchor="t" rtlCol="false" tIns="0" lIns="0" bIns="0" rIns="0">
            <a:spAutoFit/>
          </a:bodyPr>
          <a:lstStyle/>
          <a:p>
            <a:pPr algn="l" marL="696606" indent="-348303" lvl="1">
              <a:lnSpc>
                <a:spcPts val="4839"/>
              </a:lnSpc>
              <a:buFont typeface="Arial"/>
              <a:buChar char="•"/>
            </a:pPr>
            <a:r>
              <a:rPr lang="en-US" sz="3226">
                <a:solidFill>
                  <a:srgbClr val="000000"/>
                </a:solidFill>
                <a:latin typeface="Calibri (MS)"/>
                <a:ea typeface="Calibri (MS)"/>
                <a:cs typeface="Calibri (MS)"/>
                <a:sym typeface="Calibri (MS)"/>
              </a:rPr>
              <a:t>Verification: Executed SHOW INDEX to confirm the structure of B-TREE and FULLTEXT keys.</a:t>
            </a:r>
          </a:p>
          <a:p>
            <a:pPr algn="l" marL="696606" indent="-348303" lvl="1">
              <a:lnSpc>
                <a:spcPts val="4839"/>
              </a:lnSpc>
              <a:buFont typeface="Arial"/>
              <a:buChar char="•"/>
            </a:pPr>
            <a:r>
              <a:rPr lang="en-US" sz="3226">
                <a:solidFill>
                  <a:srgbClr val="000000"/>
                </a:solidFill>
                <a:latin typeface="Calibri (MS)"/>
                <a:ea typeface="Calibri (MS)"/>
                <a:cs typeface="Calibri (MS)"/>
                <a:sym typeface="Calibri (MS)"/>
              </a:rPr>
              <a:t>Functional Testing:</a:t>
            </a:r>
          </a:p>
          <a:p>
            <a:pPr algn="l" marL="1393212" indent="-464404" lvl="2">
              <a:lnSpc>
                <a:spcPts val="4839"/>
              </a:lnSpc>
              <a:buFont typeface="Arial"/>
              <a:buChar char="⚬"/>
            </a:pPr>
            <a:r>
              <a:rPr lang="en-US" sz="3226">
                <a:solidFill>
                  <a:srgbClr val="000000"/>
                </a:solidFill>
                <a:latin typeface="Calibri (MS)"/>
                <a:ea typeface="Calibri (MS)"/>
                <a:cs typeface="Calibri (MS)"/>
                <a:sym typeface="Calibri (MS)"/>
              </a:rPr>
              <a:t>Real-world queries now retrieve correct data </a:t>
            </a:r>
          </a:p>
          <a:p>
            <a:pPr algn="l" marL="1393212" indent="-464404" lvl="2">
              <a:lnSpc>
                <a:spcPts val="4839"/>
              </a:lnSpc>
              <a:buFont typeface="Arial"/>
              <a:buChar char="⚬"/>
            </a:pPr>
            <a:r>
              <a:rPr lang="en-US" sz="3226">
                <a:solidFill>
                  <a:srgbClr val="000000"/>
                </a:solidFill>
                <a:latin typeface="Calibri (MS)"/>
                <a:ea typeface="Calibri (MS)"/>
                <a:cs typeface="Calibri (MS)"/>
                <a:sym typeface="Calibri (MS)"/>
              </a:rPr>
              <a:t>Eliminated bottlenecks in data retrieval.</a:t>
            </a:r>
          </a:p>
          <a:p>
            <a:pPr algn="l" marL="696606" indent="-348303" lvl="1">
              <a:lnSpc>
                <a:spcPts val="4839"/>
              </a:lnSpc>
              <a:buFont typeface="Arial"/>
              <a:buChar char="•"/>
            </a:pPr>
            <a:r>
              <a:rPr lang="en-US" sz="3226">
                <a:solidFill>
                  <a:srgbClr val="000000"/>
                </a:solidFill>
                <a:latin typeface="Calibri (MS)"/>
                <a:ea typeface="Calibri (MS)"/>
                <a:cs typeface="Calibri (MS)"/>
                <a:sym typeface="Calibri (MS)"/>
              </a:rPr>
              <a:t>Final Outcome: The database is now fully optimized and scalable for future data growth.</a:t>
            </a:r>
          </a:p>
          <a:p>
            <a:pPr algn="l">
              <a:lnSpc>
                <a:spcPts val="483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DAG5yDYdr_0</dc:identifier>
  <dcterms:modified xsi:type="dcterms:W3CDTF">2011-08-01T06:04:30Z</dcterms:modified>
  <cp:revision>1</cp:revision>
  <dc:title>Slides Project 1 (G4)</dc:title>
</cp:coreProperties>
</file>